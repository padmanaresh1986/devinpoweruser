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6256000" cy="9144000"/>
  <p:notesSz cx="9144000" cy="16256000"/>
  <p:embeddedFontLst>
    <p:embeddedFont>
      <p:font typeface="Liter" charset="-122" pitchFamily="34"/>
      <p:regular r:id="rId4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devin.ai/product-guides/session-insigh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devin.ai/product-guides/knowledg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devin.ai/work-with-devin/advanced-capabiliti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ognition.ai/blog/dec-24-product-updat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devin.ai/product-guides/scheduled-session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cognition.ai/blog/dec-24-product-updat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devin.ai/get-started/devin-intro" TargetMode="External"/><Relationship Id="rId2" Type="http://schemas.openxmlformats.org/officeDocument/2006/relationships/hyperlink" Target="https://docs.devin.ai/essential-guidelines/when-to-use-devin" TargetMode="External"/><Relationship Id="rId3" Type="http://schemas.openxmlformats.org/officeDocument/2006/relationships/hyperlink" Target="https://docs.devin.ai/work-with-devin/advanced-capabilities" TargetMode="External"/><Relationship Id="rId4" Type="http://schemas.openxmlformats.org/officeDocument/2006/relationships/hyperlink" Target="https://docs.devin.ai/product-guides/using-playbooks" TargetMode="External"/><Relationship Id="rId5" Type="http://schemas.openxmlformats.org/officeDocument/2006/relationships/hyperlink" Target="https://docs.devin.ai/work-with-devin/devin-cli" TargetMode="External"/><Relationship Id="rId6" Type="http://schemas.openxmlformats.org/officeDocument/2006/relationships/hyperlink" Target="https://docs.devin.ai/work-with-devin/devin-handoff" TargetMode="External"/><Relationship Id="rId7" Type="http://schemas.openxmlformats.org/officeDocument/2006/relationships/hyperlink" Target="https://docs.devin.ai/work-with-devin/devin-review" TargetMode="External"/><Relationship Id="rId8" Type="http://schemas.openxmlformats.org/officeDocument/2006/relationships/hyperlink" Target="https://docs.devin.ai/use-cases/best-practices" TargetMode="External"/><Relationship Id="rId9" Type="http://schemas.openxmlformats.org/officeDocument/2006/relationships/hyperlink" Target="https://docs.devin.ai/release-notes/overview" TargetMode="External"/><Relationship Id="rId10" Type="http://schemas.openxmlformats.org/officeDocument/2006/relationships/hyperlink" Target="https://docs.devin.ai/work-with-devin/devin-mcp" TargetMode="External"/><Relationship Id="rId11" Type="http://schemas.openxmlformats.org/officeDocument/2006/relationships/hyperlink" Target="https://docs.devin.ai/product-guides/session-insights" TargetMode="External"/><Relationship Id="rId12" Type="http://schemas.openxmlformats.org/officeDocument/2006/relationships/hyperlink" Target="https://docs.devin.ai/product-guides/knowledge" TargetMode="External"/><Relationship Id="rId13" Type="http://schemas.openxmlformats.org/officeDocument/2006/relationships/hyperlink" Target="https://docs.devin.ai/product-guides/scheduled-sessions" TargetMode="External"/><Relationship Id="rId14" Type="http://schemas.openxmlformats.org/officeDocument/2006/relationships/hyperlink" Target="https://www.cognition.dev/blog" TargetMode="External"/><Relationship Id="rId15" Type="http://schemas.openxmlformats.org/officeDocument/2006/relationships/hyperlink" Target="https://app.devin.ai/settings/playbooks" TargetMode="External"/><Relationship Id="rId16" Type="http://schemas.openxmlformats.org/officeDocument/2006/relationships/hyperlink" Target="https://github.com/cognition-labs/devin-handoff" TargetMode="External"/><Relationship Id="rId17" Type="http://schemas.openxmlformats.org/officeDocument/2006/relationships/hyperlink" Target="https://mcp.devin.ai/" TargetMode="External"/><Relationship Id="rId18" Type="http://schemas.openxmlformats.org/officeDocument/2006/relationships/hyperlink" Target="https://docs.github.com/en/copilot/using-github-copilot/copilot-chat" TargetMode="External"/><Relationship Id="rId19" Type="http://schemas.openxmlformats.org/officeDocument/2006/relationships/hyperlink" Target="https://docs.github.com/en/copilot/using-github-copilot/getting-started-with-github-copilot" TargetMode="Externa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0F172A"/>
            </a:gs>
            <a:gs pos="60000">
              <a:srgbClr val="0F172A"/>
            </a:gs>
            <a:gs pos="100000">
              <a:srgbClr val="1E3A5F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8000" y="1524000"/>
            <a:ext cx="7620000" cy="4064000"/>
          </a:xfrm>
          <a:prstGeom prst="ellipse">
            <a:avLst/>
          </a:prstGeom>
          <a:gradFill rotWithShape="1" flip="none">
            <a:gsLst>
              <a:gs pos="0">
                <a:srgbClr val="3498DB">
                  <a:alpha val="13000"/>
                </a:srgbClr>
              </a:gs>
              <a:gs pos="100000">
                <a:srgbClr val="3498DB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0" y="2476500"/>
            <a:ext cx="2540000" cy="381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2730500"/>
            <a:ext cx="1270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600" spc="3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</a:t>
            </a:r>
            <a:pPr algn="ctr">
              <a:lnSpc>
                <a:spcPct val="110000"/>
              </a:lnSpc>
            </a:pPr>
            <a:r>
              <a:rPr lang="en-US" sz="5600" spc="3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 MASTERY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048000" y="3873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Hidden Features, ACU Optimization &amp; Power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83000" y="4508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ACU Burner → Power User → Team Multiplier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5207000"/>
            <a:ext cx="2540000" cy="381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6604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Presented by: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[Your Name]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88000" y="7048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June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 WE FACE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❖</a:t>
            </a:r>
            <a:pPr algn="l">
              <a:lnSpc>
                <a:spcPct val="130000"/>
              </a:lnSpc>
            </a:pPr>
            <a:r>
              <a:rPr lang="en-US" sz="2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Our Current State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635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Team has basic Devin knowledge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ACU consumption is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Same research done by multiple devs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standardized approach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Copilot and Devin used in silos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88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❖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What We'll Cover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5334000"/>
            <a:ext cx="635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Hidden features most teams don't know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ACU optimization framework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How to prevent duplicate research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GitHub Copilot alongside Devin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Live examples from MY sessions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Actionable patterns you can use 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74000" y="127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❖</a:t>
            </a:r>
            <a:pPr algn="l">
              <a:lnSpc>
                <a:spcPct val="130000"/>
              </a:lnSpc>
            </a:pPr>
            <a:r>
              <a:rPr lang="en-US" sz="2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Cost / Target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74000" y="1778000"/>
          <a:ext cx="7620000" cy="3302000"/>
        </p:xfrm>
        <a:graphic>
          <a:graphicData uri="http://schemas.openxmlformats.org/drawingml/2006/table">
            <a:tbl>
              <a:tblPr/>
              <a:tblGrid>
                <a:gridCol w="3048000"/>
                <a:gridCol w="2286000"/>
                <a:gridCol w="2286000"/>
              </a:tblGrid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Current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Target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Avg ACU/bug fix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4-6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2-3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Avg ACU/feature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12-18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6-10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Monthly ACU burn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~2,500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~1,250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Monthly cost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~$5,000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~$2,500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Duplicate research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874000" y="5334000"/>
            <a:ext cx="7620000" cy="2921000"/>
          </a:xfrm>
          <a:prstGeom prst="roundRect">
            <a:avLst>
              <a:gd name="adj" fmla="val 8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91500" y="552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2" name="Text 9"/>
          <p:cNvSpPr/>
          <p:nvPr/>
        </p:nvSpPr>
        <p:spPr>
          <a:xfrm>
            <a:off x="8610600" y="5524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91500" y="5969000"/>
            <a:ext cx="6985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We're burning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2x more ACUs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than needed. Every developer repeats the same research. There's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system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sharing knowledge.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 isn't working harder — it's building the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first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DEVIN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1778000"/>
            <a:ext cx="13208000" cy="38100"/>
          </a:xfrm>
          <a:prstGeom prst="rect">
            <a:avLst/>
          </a:prstGeom>
          <a:gradFill rotWithShape="1" flip="none">
            <a:gsLst>
              <a:gs pos="0">
                <a:srgbClr val="E74C3C"/>
              </a:gs>
              <a:gs pos="50000">
                <a:srgbClr val="F39C12"/>
              </a:gs>
              <a:gs pos="100000">
                <a:srgbClr val="2ECC71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1930400" y="1625600"/>
            <a:ext cx="355600" cy="355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625600"/>
            <a:ext cx="355600" cy="3556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00000" y="1625600"/>
            <a:ext cx="355600" cy="3556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1270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0000" y="1270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34800" y="1270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22225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2413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"Just Ask" Phase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6000" y="2857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 DID: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6000" y="31750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Vague prompts like "fix the bug"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ACU limits set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Let Devin explore freely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Accepted whatever Devin produced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knowledge sharing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16000" y="4889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6000" y="52070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ACUs</a:t>
            </a:r>
            <a:endParaRPr lang="en-US" sz="3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Bug Fix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111500" y="52070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ACUs</a:t>
            </a:r>
            <a:endParaRPr lang="en-US" sz="3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16000" y="6096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3×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broken / week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2540000" y="692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276423"/>
                </a:moveTo>
                <a:cubicBezTo>
                  <a:pt x="511076" y="264021"/>
                  <a:pt x="511076" y="243880"/>
                  <a:pt x="498673" y="231477"/>
                </a:cubicBezTo>
                <a:lnTo>
                  <a:pt x="339923" y="72727"/>
                </a:lnTo>
                <a:cubicBezTo>
                  <a:pt x="327521" y="60325"/>
                  <a:pt x="307380" y="60325"/>
                  <a:pt x="294977" y="72727"/>
                </a:cubicBezTo>
                <a:cubicBezTo>
                  <a:pt x="282575" y="85130"/>
                  <a:pt x="282575" y="105271"/>
                  <a:pt x="294977" y="117673"/>
                </a:cubicBezTo>
                <a:lnTo>
                  <a:pt x="399554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399554" y="285750"/>
                </a:lnTo>
                <a:lnTo>
                  <a:pt x="294977" y="390327"/>
                </a:lnTo>
                <a:cubicBezTo>
                  <a:pt x="282575" y="402729"/>
                  <a:pt x="282575" y="422870"/>
                  <a:pt x="294977" y="435273"/>
                </a:cubicBezTo>
                <a:cubicBezTo>
                  <a:pt x="307380" y="447675"/>
                  <a:pt x="327521" y="447675"/>
                  <a:pt x="339923" y="435273"/>
                </a:cubicBezTo>
                <a:lnTo>
                  <a:pt x="498673" y="276523"/>
                </a:lnTo>
                <a:close/>
              </a:path>
            </a:pathLst>
          </a:custGeom>
          <a:solidFill>
            <a:srgbClr val="E74C3C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842000" y="22225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0" y="2413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"Work-Order" Phase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96000" y="2857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 CHANGED: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96000" y="31750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Started structured prompts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Set ACU limits per session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Added acceptance criteria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Defined scope boundaries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6000" y="4889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96000" y="52070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ACUs</a:t>
            </a:r>
            <a:endParaRPr lang="en-US" sz="3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Bug Fix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191500" y="52070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ACUs</a:t>
            </a:r>
            <a:endParaRPr lang="en-US" sz="3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096000" y="6096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1×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broken / week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620000" y="692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276423"/>
                </a:moveTo>
                <a:cubicBezTo>
                  <a:pt x="511076" y="264021"/>
                  <a:pt x="511076" y="243880"/>
                  <a:pt x="498673" y="231477"/>
                </a:cubicBezTo>
                <a:lnTo>
                  <a:pt x="339923" y="72727"/>
                </a:lnTo>
                <a:cubicBezTo>
                  <a:pt x="327521" y="60325"/>
                  <a:pt x="307380" y="60325"/>
                  <a:pt x="294977" y="72727"/>
                </a:cubicBezTo>
                <a:cubicBezTo>
                  <a:pt x="282575" y="85130"/>
                  <a:pt x="282575" y="105271"/>
                  <a:pt x="294977" y="117673"/>
                </a:cubicBezTo>
                <a:lnTo>
                  <a:pt x="399554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399554" y="285750"/>
                </a:lnTo>
                <a:lnTo>
                  <a:pt x="294977" y="390327"/>
                </a:lnTo>
                <a:cubicBezTo>
                  <a:pt x="282575" y="402729"/>
                  <a:pt x="282575" y="422870"/>
                  <a:pt x="294977" y="435273"/>
                </a:cubicBezTo>
                <a:cubicBezTo>
                  <a:pt x="307380" y="447675"/>
                  <a:pt x="327521" y="447675"/>
                  <a:pt x="339923" y="435273"/>
                </a:cubicBezTo>
                <a:lnTo>
                  <a:pt x="498673" y="276523"/>
                </a:lnTo>
                <a:close/>
              </a:path>
            </a:pathLst>
          </a:custGeom>
          <a:solidFill>
            <a:srgbClr val="F39C12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922000" y="22225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76000" y="2413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"Power User" Phase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176000" y="2857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 CHANGED: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76000" y="31750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Built atomic Knowledge base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Created Playbooks with macros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Used parallel Devins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Pre-built snapshots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Copilot + Devin hybrid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76000" y="4889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176000" y="52070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ACUs</a:t>
            </a:r>
            <a:endParaRPr lang="en-US" sz="3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Bug Fix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13271500" y="52070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ACUs</a:t>
            </a:r>
            <a:endParaRPr lang="en-US" sz="36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11176000" y="6096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breaks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1176000" y="69215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ECC7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PRs ready to merge 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#1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MANAGED DEVINS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065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Execution — One Coordinator, Multiple Child Sessions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7048500" cy="254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841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❖ BEFORE — Sequential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22225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Migrate all files using old REST client to GraphQL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Devin works on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file at a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6000" y="31115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ACUs total</a:t>
            </a:r>
            <a:endParaRPr lang="en-US" sz="4000" dirty="0"/>
          </a:p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 files × 2 ACUs each | Took 3 days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445500" y="1714500"/>
            <a:ext cx="7048500" cy="254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99500" y="1841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✦ AFTER — Parallel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99500" y="22225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codebase → Group → Start parallel sessions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child sessions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(6-7 files each)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99500" y="3111500"/>
            <a:ext cx="6540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ACUs total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2400" dirty="0">
                <a:solidFill>
                  <a:srgbClr val="2ECC7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↓25%</a:t>
            </a:r>
            <a:endParaRPr lang="en-US" sz="4000" dirty="0"/>
          </a:p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Finished in 6 hours instead of 3 days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62000" y="4508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 COORDINATOR CAN DO: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8895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Spin up managed Devins with specific prompts, playbooks, tags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Message child sessions with follow-up instructions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Monitor ACU consumption per child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Put child sessions to sleep or terminate them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2000" y="4508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48895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Migrations across many files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Bulk test coverage improvements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Refactoring across multiple modules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Any task with 5+ independent work packages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2000" y="6858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9500" y="711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1549400" y="7112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9500" y="7556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50-file REST→GraphQL migration: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 ACU savings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completed in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hours vs 3 days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coordinator monitored all 8 child sessions from the Agents tab.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#2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WORK-ORDER PROMPTING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0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#1 ACU KILLER: VAGUE PROMPTS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"Fix the bug in the payment service"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"Add a new endpoint for user profiles"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"Refactor the auth code"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514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FIX: 6-SECTION WORK-ORDER PROMPT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844800"/>
            <a:ext cx="8890000" cy="55753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2921000"/>
            <a:ext cx="8509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Add rate limiter to signup endpoint. Match login endpoint's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withRateLimit wrapper. No schema changes.</a:t>
            </a:r>
            <a:endParaRPr lang="en-US" sz="1100" dirty="0"/>
          </a:p>
          <a:p>
            <a:pPr algn="l">
              <a:lnSpc>
                <a:spcPct val="145000"/>
              </a:lnSpc>
            </a:pP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Repo: github.com/acme/acme-web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Stack: TypeScript, Next.js 15, Supabase, Jest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Reference: app/api/login/route.ts uses withRateLimit</a:t>
            </a:r>
            <a:endParaRPr lang="en-US" sz="1100" dirty="0"/>
          </a:p>
          <a:p>
            <a:pPr algn="l">
              <a:lnSpc>
                <a:spcPct val="145000"/>
              </a:lnSpc>
            </a:pP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ACCEPTANCE CRITERIA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1. Returns HTTP 429 when rate limit hit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2. Existing behavior unchanged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3. npm run typecheck passes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4. npm test passes with new unit test</a:t>
            </a:r>
            <a:endParaRPr lang="en-US" sz="1100" dirty="0"/>
          </a:p>
          <a:p>
            <a:pPr algn="l">
              <a:lnSpc>
                <a:spcPct val="145000"/>
              </a:lnSpc>
            </a:pP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In: signup route + test | Out: other routes, schema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npm ci | npm test | npm run typecheck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CLOSING STEP</a:t>
            </a:r>
            <a:pPr algn="l">
              <a:lnSpc>
                <a:spcPct val="14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Open PR, do not merge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33000" y="2768600"/>
          <a:ext cx="5461000" cy="2095500"/>
        </p:xfrm>
        <a:graphic>
          <a:graphicData uri="http://schemas.openxmlformats.org/drawingml/2006/table">
            <a:tbl>
              <a:tblPr/>
              <a:tblGrid>
                <a:gridCol w="2075180"/>
                <a:gridCol w="1201420"/>
                <a:gridCol w="1201420"/>
                <a:gridCol w="9829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Task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Vague ACU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Work-Order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Save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Bug fix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2.5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58%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API endpoint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14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57%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Refactor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60%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033000" y="508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WORKS: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33000" y="5461000"/>
            <a:ext cx="546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doesn't waste time exploring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"helpful" refactors of unrelated files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Clear stop condition prevents infinite loops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Pre-defined test commands = fewer iterations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033000" y="7429500"/>
            <a:ext cx="5461000" cy="9906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23500" y="7556500"/>
            <a:ext cx="508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⚡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57-60% ACU reduction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every task type after switching to Work-Order prompts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#3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ATOMIC KNOWLEDGE 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7048500" cy="1333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371600"/>
            <a:ext cx="654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 WRONG: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One giant 5,000-word "Our Codebase" doc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Loaded on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session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Burns tokens/ACUs even when irrelevant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45500" y="1270000"/>
            <a:ext cx="7048500" cy="1333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99500" y="1371600"/>
            <a:ext cx="654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 RIGHT: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15-20 focused Knowledge items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Loaded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when relevant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Saves tokens/ACUs on every session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79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KNOWLEDGE SETUP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175000"/>
          <a:ext cx="14732000" cy="2921000"/>
        </p:xfrm>
        <a:graphic>
          <a:graphicData uri="http://schemas.openxmlformats.org/drawingml/2006/table">
            <a:tbl>
              <a:tblPr/>
              <a:tblGrid>
                <a:gridCol w="3241040"/>
                <a:gridCol w="5156200"/>
                <a:gridCol w="6334760"/>
              </a:tblGrid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Knowledge Item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Trigger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Content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Auth Patterns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repo:acme-web AND file:*auth*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JWT handling, refresh tokens, middleware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DB Migration Rules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repo:acme-web AND task:migration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Always use npm run migrate:generate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Testing Standards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repo:acme-web AND task:test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Jest, mock external APIs, 80% coverage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 Template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repo:acme-web AND action:pr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Branch naming: feat/TICKET-123-short-desc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Error Handling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repo:acme-web AND file:*error*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AppError class, never raw Error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47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Secrets Mgmt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repo:acme-web AND task:secrets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Devin Secrets dashboard, never paste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628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AUTO-IMPORT FROM EXISTING RULES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2000" y="66675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auto-reads: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.rules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.mdc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.cursorrules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AGENTS.md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your team uses Cursor/Claude, rules are ALREADY usable.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82000" y="628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PRE-COMMIT KNOWLEDGE (GAME CHANGER)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82000" y="66675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committing, Devin MUST: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1. Run lint → fix errors  2. Run typecheck → fix errors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3. Run tests → all pass   4. git diff --name-only verify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2000" y="7620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9500" y="781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6" name="Text 13"/>
          <p:cNvSpPr/>
          <p:nvPr/>
        </p:nvSpPr>
        <p:spPr>
          <a:xfrm>
            <a:off x="1524000" y="7747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⚡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"Devin broke the build"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incidents in 30 days. Previously: 2-3 per week. The pre-commit Knowledge item auto-loads on every session.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#4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PLAYBOOKS WITH MACROS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Reusable templates that guide Devin through specific task types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1549400"/>
            <a:ext cx="8128000" cy="5080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625600"/>
            <a:ext cx="7747000" cy="492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Playbook: Add REST API Endpoint</a:t>
            </a:r>
            <a:endParaRPr lang="en-US" sz="1000" dirty="0"/>
          </a:p>
          <a:p>
            <a:pPr algn="l">
              <a:lnSpc>
                <a:spcPct val="140000"/>
              </a:lnSpc>
            </a:pP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Procedure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1. Check patterns in app/api/ for route structure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2. Create: app/api/[resource]/route.ts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3. Implement GET, POST, PUT, DELETE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4. Add Zod validation for all inputs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5. Add error handling using AppError class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6. Write tests: app/api/[resource]/route.test.ts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7. Run typecheck &amp;&amp; lint &amp;&amp; test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8. Open PR: feat: add [resource] endpoint</a:t>
            </a:r>
            <a:endParaRPr lang="en-US" sz="1000" dirty="0"/>
          </a:p>
          <a:p>
            <a:pPr algn="l">
              <a:lnSpc>
                <a:spcPct val="140000"/>
              </a:lnSpc>
            </a:pP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Forbidden Actions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✗ NEVER modify prisma/schema.prisma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✗ NEVER install new packages without check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✗ NEVER modify files outside resource scope</a:t>
            </a:r>
            <a:endParaRPr lang="en-US" sz="1000" dirty="0"/>
          </a:p>
          <a:p>
            <a:pPr algn="l"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✗ NEVER merge PRs — leave for human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71000" y="1549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MACRO MAGIC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0" y="1930400"/>
          <a:ext cx="6223000" cy="1778000"/>
        </p:xfrm>
        <a:graphic>
          <a:graphicData uri="http://schemas.openxmlformats.org/drawingml/2006/table">
            <a:tbl>
              <a:tblPr/>
              <a:tblGrid>
                <a:gridCol w="1742440"/>
                <a:gridCol w="1742440"/>
                <a:gridCol w="273812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Playbook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Macro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Usage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Add API Endpoint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!add-endpoint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!add-endpoint for /users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Fix Bug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!fix-bug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!fix-bug in payment service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Write Test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!write-test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!write-test for auth, 80%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271000" y="393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PLAYBOOK STATS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0" y="4318000"/>
          <a:ext cx="6223000" cy="1778000"/>
        </p:xfrm>
        <a:graphic>
          <a:graphicData uri="http://schemas.openxmlformats.org/drawingml/2006/table">
            <a:tbl>
              <a:tblPr/>
              <a:tblGrid>
                <a:gridCol w="1742440"/>
                <a:gridCol w="1120140"/>
                <a:gridCol w="1120140"/>
                <a:gridCol w="1120140"/>
                <a:gridCol w="1120140"/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Playbook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Sessions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Avg ACU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Success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!add-endpoint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24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3.2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92%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!fix-bug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18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2.1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17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94%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!write-test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2.8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11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92%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!refactor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4.5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88%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2000" y="6921500"/>
            <a:ext cx="14732000" cy="15875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79500" y="708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3" name="Text 9"/>
          <p:cNvSpPr/>
          <p:nvPr/>
        </p:nvSpPr>
        <p:spPr>
          <a:xfrm>
            <a:off x="1498600" y="7086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79500" y="7493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playbooks with macros,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 total sessions, 57 merged PRs, 91.5% avg success rate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!fix-bug playbook averages only 2.1 ACUs per task. Playbook versioning (March 2026) lets me A/B test and keep the winners.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#5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PRE-BUILT SNAPSHOTS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7048500" cy="1524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39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HIDDEN COST: SETUP TAX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6000" y="1752600"/>
            <a:ext cx="6540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session, Devin spends </a:t>
            </a:r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 ACUs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on: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Cloning repos • Installing deps • Configuring env vars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50 sessions/month = 50-100 ACUs wasted!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45500" y="1270000"/>
            <a:ext cx="7048500" cy="1524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99500" y="139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FIX: BUILD ONCE, USE FOREVER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99500" y="1752600"/>
            <a:ext cx="6540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Go to Settings &gt; Devin's Machine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 up environment ONCE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Save as snapshot → Every session starts from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304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SNAPSHOT: "acme-web-dev"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3429000"/>
            <a:ext cx="70485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Repo cloned: github.com/acme/acme-web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Branch: develop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Dependencies: npm ci completed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Secrets: SUPABASE_URL, SUPABASE_KEY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Tools: ESLint, Prettier, Jest ready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Scripts: deploy.sh, db-seed.sh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45500" y="3429000"/>
          <a:ext cx="7048500" cy="1778000"/>
        </p:xfrm>
        <a:graphic>
          <a:graphicData uri="http://schemas.openxmlformats.org/drawingml/2006/table">
            <a:tbl>
              <a:tblPr/>
              <a:tblGrid>
                <a:gridCol w="2819400"/>
                <a:gridCol w="2114550"/>
                <a:gridCol w="211455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Before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After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Setup per session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1-2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Monthly setup cost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75-100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Monthly savings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$150-200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6477000"/>
            <a:ext cx="14732000" cy="19685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9500" y="666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5" name="Text 12"/>
          <p:cNvSpPr/>
          <p:nvPr/>
        </p:nvSpPr>
        <p:spPr>
          <a:xfrm>
            <a:off x="1498600" y="666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79500" y="70866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Snapshot eliminated </a:t>
            </a:r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of setup ACUs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Every session now starts with repo cloned, dependencies installed, secrets configured, and tools ready. The 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$150-200/month savings</a:t>
            </a:r>
            <a:pPr algn="l">
              <a:lnSpc>
                <a:spcPct val="145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paid for the snapshot setup time in the first week.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tip: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Include pre-built Docker images and custom scripts in your snapshot for even faster starts.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#6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 HANDOFF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exploration (FREE) → /handoff → Cloud execution (PAID)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4826000" cy="292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778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CLI — 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2159000"/>
            <a:ext cx="431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Quick exploration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Small fixes (&lt;30 min)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Codebase Q&amp;A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Interactive coding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YOUR machine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ZERO ACUs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9000" y="1625600"/>
            <a:ext cx="4826000" cy="292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23000" y="1778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DEVIN — PAID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3000" y="2159000"/>
            <a:ext cx="431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Tasks &gt;30 minutes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VM/server capabilities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Browser automation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CI/CD debugging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Long-running work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ACUs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176000" y="1625600"/>
            <a:ext cx="4318000" cy="292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0" y="177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HAND OFF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0" y="21844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explore auth module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find JWT bug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/handoff fix JWT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0" y="3619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Carries over: repo, branch,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conversation context,</a:t>
            </a:r>
            <a:endParaRPr lang="en-US" sz="1100" dirty="0"/>
          </a:p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uncommitted changes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2000" y="4762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REAL WORKFLOW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2000" y="51435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FREE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"Explore auth module, find JWT validation"  →  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ACUs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FREE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"Fix expired token bug"  →  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ACUs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NEEDS CLOUD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"This needs refactoring 12 files + tests"  →  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/handoff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CLOUD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Devin takes over with full VM  →  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3-5 ACUs</a:t>
            </a:r>
            <a:pPr algn="l">
              <a:lnSpc>
                <a:spcPct val="155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→  PR ready for review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2000" y="6985000"/>
            <a:ext cx="14732000" cy="14605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9500" y="717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7175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9500" y="75692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 Handoff saves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2-3 ACUs per task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doing exploration locally for free. For a typical week (10 tasks), that's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20-30 ACUs saved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$40-65/week = $160-260/month.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#7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HARD ACU LIMITS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5080000" cy="1143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37160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TRAP: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10 ACUs/session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teams never change this.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grinds for hours on impossible solutions.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TIERED ACU LIMITS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946400"/>
          <a:ext cx="7620000" cy="2159000"/>
        </p:xfrm>
        <a:graphic>
          <a:graphicData uri="http://schemas.openxmlformats.org/drawingml/2006/table">
            <a:tbl>
              <a:tblPr/>
              <a:tblGrid>
                <a:gridCol w="2286000"/>
                <a:gridCol w="1905000"/>
                <a:gridCol w="3429000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Task Type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ACU Limit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Rationale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Simple bug fix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3-5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Forces focus, prevents rabbit holes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 implementation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8-10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Enough for plan + exec + tests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Code migration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15-20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Complex, but still bounded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Research/exploration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Hard stop to prevent endless browsing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533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WHEN LIMIT IS HIT?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740400"/>
            <a:ext cx="762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stops and asks for direction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You can: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Extend the limit if genuinely needed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Redirect to a better approach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890000" y="2540000"/>
            <a:ext cx="6604000" cy="419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0" y="2692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EXPERIENCE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0" y="30988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LIMITS: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stuck on dependency conflict for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hours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Burned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ACUs ($24-27)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Had to restart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0" y="4724400"/>
            <a:ext cx="60960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0" y="48514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LIMITS: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Hit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ACU limit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Devin asked for direction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 said "skip dependency update"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 in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ACUs total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2000" y="70485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79500" y="723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7" name="Text 14"/>
          <p:cNvSpPr/>
          <p:nvPr/>
        </p:nvSpPr>
        <p:spPr>
          <a:xfrm>
            <a:off x="1498600" y="723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79500" y="76200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ACU limits prevented </a:t>
            </a:r>
            <a:pPr algn="l">
              <a:lnSpc>
                <a:spcPct val="145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15+ runaway sessions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Month 2 alone. Average session dropped from 8.5 ACUs to 5.2 ACUs — a </a:t>
            </a:r>
            <a:pPr algn="l">
              <a:lnSpc>
                <a:spcPct val="145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39% reduction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this single change.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#8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CHECKPOINT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7048500" cy="2222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422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MASSIVE 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17526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entire user profile feature: DB schema,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API, frontend form, and tests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6035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Plans 2h → Wrong schema → Wrong frontend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Tests fail →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ACUs burned → Start over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45500" y="1270000"/>
            <a:ext cx="7048500" cy="2222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99500" y="1422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CHECKPOINTS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99500" y="17526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DB schema → STOP → I approve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backend → STOP → I approve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frontend → STOP → Done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99500" y="26035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Catch misdirection at each checkpoint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ACUs total → 90% success rate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10000"/>
          <a:ext cx="6350000" cy="1397000"/>
        </p:xfrm>
        <a:graphic>
          <a:graphicData uri="http://schemas.openxmlformats.org/drawingml/2006/table">
            <a:tbl>
              <a:tblPr/>
              <a:tblGrid>
                <a:gridCol w="2857500"/>
                <a:gridCol w="1746250"/>
                <a:gridCol w="1746250"/>
              </a:tblGrid>
              <a:tr h="465201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Approach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Total ACU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Success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465201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massive prompt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6659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Checkpoint pattern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 ACUs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90%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5397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Savings: 25-40% — catch misdirection early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874000" y="3810000"/>
            <a:ext cx="7620000" cy="2032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91500" y="400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6" name="Text 13"/>
          <p:cNvSpPr/>
          <p:nvPr/>
        </p:nvSpPr>
        <p:spPr>
          <a:xfrm>
            <a:off x="8610600" y="400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TIP: PLAN REVIEW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91500" y="4419600"/>
            <a:ext cx="7048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creates a plan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executing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Always review it.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the plan is wrong, correct it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starts coding.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FREE — no ACUs burned yet.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62000" y="6223000"/>
            <a:ext cx="14732000" cy="22225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9500" y="641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20" name="Text 17"/>
          <p:cNvSpPr/>
          <p:nvPr/>
        </p:nvSpPr>
        <p:spPr>
          <a:xfrm>
            <a:off x="14986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79500" y="6832600"/>
            <a:ext cx="1409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Checkpoint pattern increased my success rate from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 to 90%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reduced average ACU consumption by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47%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key insight: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stopping to review is cheaper than fixing mistakes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with Work-Order prompting, my feature tasks dropped from 18 ACUs to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ACUs on average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#9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Quality Gate — AI-powered PR review with security scanning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625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ACTUALLY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685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diff organization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Groups changes logically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Copy/move detection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Clean change display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 catcher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Labels bugs by confidence level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scanning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CWE classification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Codebase-aware chat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Ask PR questions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Auto-fix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Devin fixes flagged issues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4381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ACU SIZE INDICATOR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724400"/>
          <a:ext cx="6858000" cy="2222500"/>
        </p:xfrm>
        <a:graphic>
          <a:graphicData uri="http://schemas.openxmlformats.org/drawingml/2006/table">
            <a:tbl>
              <a:tblPr/>
              <a:tblGrid>
                <a:gridCol w="1028700"/>
                <a:gridCol w="2057400"/>
                <a:gridCol w="3771900"/>
              </a:tblGrid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Size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ACU Range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≤ 2.25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Safe to auto-review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2.25 – 4.5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Quick manual review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4.5 – 9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Thorough review recommended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 – 18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Deep review + break into smaller PRs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671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XL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&gt; 18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Break into smaller PRs!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55000" y="1625600"/>
            <a:ext cx="7239000" cy="2222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9000" y="177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PART: REVIEW ACUs ARE FREE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09000" y="2133600"/>
            <a:ext cx="673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Review draws from a </a:t>
            </a:r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separate enterprise pool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do NOT count against session ACU limits.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Access: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Web: app.devin.ai/review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URL: Replace github.com → devinreview.com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55000" y="4127500"/>
            <a:ext cx="7239000" cy="28194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09000" y="431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4" name="Text 11"/>
          <p:cNvSpPr/>
          <p:nvPr/>
        </p:nvSpPr>
        <p:spPr>
          <a:xfrm>
            <a:off x="89154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SETUP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509000" y="4762500"/>
            <a:ext cx="673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Auto-review enabled on all repos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Auto-fix enabled for Devin-created PRs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SECURITY.md defines custom policies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.rules files auto-imported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PRs are ready to merge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the time I look at them.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62000" y="73025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9500" y="749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8" name="Text 15"/>
          <p:cNvSpPr/>
          <p:nvPr/>
        </p:nvSpPr>
        <p:spPr>
          <a:xfrm>
            <a:off x="1498600" y="7493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⚡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Review caught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security issues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bugs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before merge in Month 3. Zero post-merge incidents. Review ACUs cost $0.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#10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SCHEDULED SESSIONS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it and forget it — automated maintenance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9525000" cy="2921000"/>
        </p:xfrm>
        <a:graphic>
          <a:graphicData uri="http://schemas.openxmlformats.org/drawingml/2006/table">
            <a:tbl>
              <a:tblPr/>
              <a:tblGrid>
                <a:gridCol w="2857500"/>
                <a:gridCol w="1905000"/>
                <a:gridCol w="1714500"/>
                <a:gridCol w="3048000"/>
              </a:tblGrid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Schedule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Frequency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ACU Cost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Dependency audit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Weekly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2-3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Prevents security vulnerabilities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Test coverage report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Daily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1-2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Identifies gaps early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Documentation sync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Weekly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2-3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Keeps docs current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Stale branch cleanup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Weekly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 ACU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Reduces repo clutter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77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Sentry error triage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Daily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2-3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Fixes bugs before users report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47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Knowledge maintenance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Weekly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Deduplicate, resolve conflicts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826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SET UP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2000" y="5181600"/>
            <a:ext cx="9525000" cy="10795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952500" y="5270500"/>
            <a:ext cx="914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 schedule that runs every Monday at 8 AM to: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review pending knowledge suggestions, deduplicate entries,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and resolve conflicting guidance.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2000" y="6477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SCHEDULED SESSIONS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2000" y="6832600"/>
            <a:ext cx="9525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 8am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Dependency audit → PR if updates available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Tue 8am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Test coverage → Posts to #dev-team Slack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Wed 8am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Documentation sync → Updates API docs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Fri 5pm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Stale branch cleanup → Deletes &gt;30 days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922000" y="1651000"/>
            <a:ext cx="4572000" cy="317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6000" y="1841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COST vs VALUE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176000" y="2349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ACUs/week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11176000" y="3175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≈ $16-18 / week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1430000" y="3619500"/>
            <a:ext cx="35560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3"/>
          <p:cNvSpPr/>
          <p:nvPr/>
        </p:nvSpPr>
        <p:spPr>
          <a:xfrm>
            <a:off x="11176000" y="3810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emergency fixes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that would cost </a:t>
            </a:r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10-20 ACUs each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922000" y="5181600"/>
            <a:ext cx="4572000" cy="32385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176000" y="539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9" name="Text 16"/>
          <p:cNvSpPr/>
          <p:nvPr/>
        </p:nvSpPr>
        <p:spPr>
          <a:xfrm>
            <a:off x="11582400" y="539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176000" y="5867400"/>
            <a:ext cx="4064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Scheduled sessions caught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security vulnerabilities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before they hit production.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Auto-documentation kept our API docs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in sync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code.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ROI: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5-10x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prevention is cheaper than fixes.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#11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DUPLICATE SESSION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uncertain, run multiple sessions — pick the best result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625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EXAMPLE: DATABASE MIGRATION APPROACH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46990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18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25146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Migrate using streaming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 with batch processing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3429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ACUs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Quality: Good for large datasets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Speed: Moderate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78500" y="2032000"/>
            <a:ext cx="46990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2500" y="218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2500" y="25146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Migrate using full dump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restore approach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2500" y="3429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ACUs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Quality: Fast but risky for live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Speed: Fastest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795000" y="2032000"/>
            <a:ext cx="46990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49000" y="218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049000" y="25146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Migrate using event-driven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 with CDC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49000" y="3429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ACUs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Quality: Best for zero-downtime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Speed: Slowest but safest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953000"/>
          <a:ext cx="7620000" cy="1397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2286000"/>
                <a:gridCol w="2286000"/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Session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ACU Used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Approach Quality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Good for large datasets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 migrations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 but risky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Small/dev datasets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zero-downtime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890000" y="4953000"/>
            <a:ext cx="6604000" cy="1397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0" y="5105400"/>
            <a:ext cx="609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Total: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 ACUs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find the best approach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vs. 1 session grinding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ACUs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suboptimal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 savings: 3 ACUs + better result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6667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START DUPLICATE SESSIONS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62000" y="70485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 </a:t>
            </a:r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"Start duplicate session"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sidebar. Run 2-3 sessions with different prompts, compare, merge the best.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62000" y="7747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9500" y="7848600"/>
            <a:ext cx="1409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⚡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Result: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 duplicate sessions for 3 architecture decisions. Each time,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picked a better approach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saved 5-10 ACUs in implementation vs. the first attempt.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#12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MCP INTEGRATIONS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Context Protocol — connect Devin to external tools and data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625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INTEGRATIONS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1981200"/>
            <a:ext cx="711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Datadog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Investigate production issues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Sentry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Triage errors and crashes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Query data directly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Figma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Read design specs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Notion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Access documentation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Stripe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Check billing/payment data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Hundreds more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via MCP Marketplace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" y="4254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45974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Datadog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Devin checks logs and metrics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Sentry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Devin triages errors automatically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Query production (read-only)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Figma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Read design specs for frontend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9000" y="1625600"/>
            <a:ext cx="6985000" cy="292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0" y="177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EXAMPLE: DATADOG + DEVIN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63000" y="21590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payment service is timing out.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Datadog for error spikes in the last 24h,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then fix the root cause in payment_controller.rb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63000" y="3175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checks Datadog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Finds spike at 2 AM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Correlates with deployment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Fixes the issue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9000" y="4826000"/>
            <a:ext cx="6985000" cy="2159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63000" y="4978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MCP vs WITH MCP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63000" y="5334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asks for logs → You paste them → Devin analyzes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Extra back-and-forth =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 ACUs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63000" y="61595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queries Datadog directly → Analyzes → Fixes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Saves 1-2 ACUs per investigation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2000" y="73025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9500" y="749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7493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⚡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MCP integrations save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 ACUs per incident investigation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With 5-10 incidents/week, that's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5-20 ACUs saved weekly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Datadog + Sentry are the highest ROI integrations.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#13</a:t>
            </a:r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AGENTS TAB &amp; FOCUS MODE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5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700"/>
                </a:moveTo>
                <a:cubicBezTo>
                  <a:pt x="239648" y="12700"/>
                  <a:pt x="269240" y="49689"/>
                  <a:pt x="269240" y="95250"/>
                </a:cubicBezTo>
                <a:cubicBezTo>
                  <a:pt x="269240" y="140811"/>
                  <a:pt x="239648" y="177800"/>
                  <a:pt x="203200" y="177800"/>
                </a:cubicBezTo>
                <a:cubicBezTo>
                  <a:pt x="166752" y="177800"/>
                  <a:pt x="137160" y="140811"/>
                  <a:pt x="137160" y="95250"/>
                </a:cubicBezTo>
                <a:cubicBezTo>
                  <a:pt x="137160" y="49689"/>
                  <a:pt x="166752" y="12700"/>
                  <a:pt x="203200" y="12700"/>
                </a:cubicBezTo>
                <a:close/>
                <a:moveTo>
                  <a:pt x="60960" y="69850"/>
                </a:moveTo>
                <a:cubicBezTo>
                  <a:pt x="86194" y="69850"/>
                  <a:pt x="106680" y="95458"/>
                  <a:pt x="106680" y="127000"/>
                </a:cubicBezTo>
                <a:cubicBezTo>
                  <a:pt x="106680" y="158542"/>
                  <a:pt x="86194" y="184150"/>
                  <a:pt x="60960" y="184150"/>
                </a:cubicBezTo>
                <a:cubicBezTo>
                  <a:pt x="35726" y="184150"/>
                  <a:pt x="15240" y="158542"/>
                  <a:pt x="15240" y="127000"/>
                </a:cubicBezTo>
                <a:cubicBezTo>
                  <a:pt x="15240" y="95458"/>
                  <a:pt x="35726" y="69850"/>
                  <a:pt x="60960" y="69850"/>
                </a:cubicBezTo>
                <a:close/>
                <a:moveTo>
                  <a:pt x="0" y="330200"/>
                </a:moveTo>
                <a:cubicBezTo>
                  <a:pt x="0" y="274082"/>
                  <a:pt x="36386" y="228600"/>
                  <a:pt x="81280" y="228600"/>
                </a:cubicBezTo>
                <a:cubicBezTo>
                  <a:pt x="89408" y="228600"/>
                  <a:pt x="97282" y="230108"/>
                  <a:pt x="104712" y="232886"/>
                </a:cubicBezTo>
                <a:cubicBezTo>
                  <a:pt x="83820" y="262096"/>
                  <a:pt x="71120" y="300672"/>
                  <a:pt x="71120" y="342900"/>
                </a:cubicBezTo>
                <a:lnTo>
                  <a:pt x="71120" y="355600"/>
                </a:lnTo>
                <a:cubicBezTo>
                  <a:pt x="71120" y="364649"/>
                  <a:pt x="72644" y="373221"/>
                  <a:pt x="75375" y="381000"/>
                </a:cubicBezTo>
                <a:lnTo>
                  <a:pt x="20320" y="381000"/>
                </a:lnTo>
                <a:cubicBezTo>
                  <a:pt x="908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331026" y="381000"/>
                </a:moveTo>
                <a:cubicBezTo>
                  <a:pt x="333756" y="373221"/>
                  <a:pt x="335280" y="364649"/>
                  <a:pt x="335280" y="355600"/>
                </a:cubicBezTo>
                <a:lnTo>
                  <a:pt x="335280" y="342900"/>
                </a:lnTo>
                <a:cubicBezTo>
                  <a:pt x="335280" y="300673"/>
                  <a:pt x="322580" y="262096"/>
                  <a:pt x="301689" y="232886"/>
                </a:cubicBezTo>
                <a:cubicBezTo>
                  <a:pt x="309118" y="230108"/>
                  <a:pt x="316992" y="228600"/>
                  <a:pt x="325120" y="228600"/>
                </a:cubicBezTo>
                <a:cubicBezTo>
                  <a:pt x="370015" y="228600"/>
                  <a:pt x="406400" y="274082"/>
                  <a:pt x="406400" y="330200"/>
                </a:cubicBezTo>
                <a:lnTo>
                  <a:pt x="406400" y="355600"/>
                </a:lnTo>
                <a:cubicBezTo>
                  <a:pt x="406400" y="369649"/>
                  <a:pt x="397320" y="381000"/>
                  <a:pt x="386080" y="381000"/>
                </a:cubicBezTo>
                <a:lnTo>
                  <a:pt x="331026" y="381000"/>
                </a:lnTo>
                <a:close/>
                <a:moveTo>
                  <a:pt x="299720" y="127000"/>
                </a:moveTo>
                <a:cubicBezTo>
                  <a:pt x="299720" y="95458"/>
                  <a:pt x="320206" y="69850"/>
                  <a:pt x="345440" y="69850"/>
                </a:cubicBezTo>
                <a:cubicBezTo>
                  <a:pt x="370674" y="69850"/>
                  <a:pt x="391160" y="95458"/>
                  <a:pt x="391160" y="127000"/>
                </a:cubicBezTo>
                <a:cubicBezTo>
                  <a:pt x="391160" y="158542"/>
                  <a:pt x="370674" y="184150"/>
                  <a:pt x="345440" y="184150"/>
                </a:cubicBezTo>
                <a:cubicBezTo>
                  <a:pt x="320206" y="184150"/>
                  <a:pt x="299720" y="158542"/>
                  <a:pt x="299720" y="127000"/>
                </a:cubicBezTo>
                <a:close/>
                <a:moveTo>
                  <a:pt x="101600" y="342900"/>
                </a:moveTo>
                <a:cubicBezTo>
                  <a:pt x="101600" y="272733"/>
                  <a:pt x="147066" y="215900"/>
                  <a:pt x="203200" y="215900"/>
                </a:cubicBezTo>
                <a:cubicBezTo>
                  <a:pt x="259334" y="215900"/>
                  <a:pt x="304800" y="272733"/>
                  <a:pt x="304800" y="342900"/>
                </a:cubicBezTo>
                <a:lnTo>
                  <a:pt x="304800" y="355600"/>
                </a:lnTo>
                <a:cubicBezTo>
                  <a:pt x="304800" y="369649"/>
                  <a:pt x="295720" y="381000"/>
                  <a:pt x="284480" y="381000"/>
                </a:cubicBezTo>
                <a:lnTo>
                  <a:pt x="121920" y="381000"/>
                </a:lnTo>
                <a:cubicBezTo>
                  <a:pt x="110681" y="381000"/>
                  <a:pt x="101600" y="369649"/>
                  <a:pt x="101600" y="355600"/>
                </a:cubicBezTo>
                <a:lnTo>
                  <a:pt x="101600" y="342900"/>
                </a:lnTo>
                <a:close/>
              </a:path>
            </a:pathLst>
          </a:cu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1625600" y="152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AGENTS TAB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9500" y="20574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all child sessions in one 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2476500"/>
            <a:ext cx="647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Status of each child session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Todos for each child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PRs opened by each child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ACU consumption per child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this to monitor parallel work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switching between 10 tabs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45500" y="13335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63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029" y="25400"/>
                </a:moveTo>
                <a:cubicBezTo>
                  <a:pt x="12972" y="25400"/>
                  <a:pt x="0" y="36751"/>
                  <a:pt x="0" y="50800"/>
                </a:cubicBezTo>
                <a:lnTo>
                  <a:pt x="0" y="127000"/>
                </a:lnTo>
                <a:cubicBezTo>
                  <a:pt x="0" y="141049"/>
                  <a:pt x="12972" y="152400"/>
                  <a:pt x="29029" y="152400"/>
                </a:cubicBezTo>
                <a:cubicBezTo>
                  <a:pt x="45085" y="152400"/>
                  <a:pt x="58057" y="141049"/>
                  <a:pt x="58057" y="127000"/>
                </a:cubicBezTo>
                <a:lnTo>
                  <a:pt x="58057" y="76200"/>
                </a:lnTo>
                <a:lnTo>
                  <a:pt x="116114" y="76200"/>
                </a:lnTo>
                <a:cubicBezTo>
                  <a:pt x="132171" y="76200"/>
                  <a:pt x="145143" y="64849"/>
                  <a:pt x="145143" y="50800"/>
                </a:cubicBezTo>
                <a:cubicBezTo>
                  <a:pt x="145143" y="36751"/>
                  <a:pt x="132171" y="25400"/>
                  <a:pt x="116114" y="25400"/>
                </a:cubicBezTo>
                <a:lnTo>
                  <a:pt x="29029" y="25400"/>
                </a:lnTo>
                <a:close/>
                <a:moveTo>
                  <a:pt x="58057" y="279400"/>
                </a:moveTo>
                <a:cubicBezTo>
                  <a:pt x="58057" y="265351"/>
                  <a:pt x="45085" y="254000"/>
                  <a:pt x="29029" y="254000"/>
                </a:cubicBezTo>
                <a:cubicBezTo>
                  <a:pt x="12972" y="254000"/>
                  <a:pt x="0" y="265351"/>
                  <a:pt x="0" y="279400"/>
                </a:cubicBezTo>
                <a:lnTo>
                  <a:pt x="0" y="355600"/>
                </a:lnTo>
                <a:cubicBezTo>
                  <a:pt x="0" y="369649"/>
                  <a:pt x="12972" y="381000"/>
                  <a:pt x="29029" y="381000"/>
                </a:cubicBezTo>
                <a:lnTo>
                  <a:pt x="116114" y="381000"/>
                </a:lnTo>
                <a:cubicBezTo>
                  <a:pt x="132171" y="381000"/>
                  <a:pt x="145143" y="369649"/>
                  <a:pt x="145143" y="355600"/>
                </a:cubicBezTo>
                <a:cubicBezTo>
                  <a:pt x="145143" y="341551"/>
                  <a:pt x="132171" y="330200"/>
                  <a:pt x="116114" y="330200"/>
                </a:cubicBezTo>
                <a:lnTo>
                  <a:pt x="58057" y="330200"/>
                </a:lnTo>
                <a:lnTo>
                  <a:pt x="58057" y="279400"/>
                </a:lnTo>
                <a:close/>
                <a:moveTo>
                  <a:pt x="290286" y="25400"/>
                </a:moveTo>
                <a:cubicBezTo>
                  <a:pt x="274229" y="25400"/>
                  <a:pt x="261257" y="36751"/>
                  <a:pt x="261257" y="50800"/>
                </a:cubicBezTo>
                <a:cubicBezTo>
                  <a:pt x="261257" y="64849"/>
                  <a:pt x="274229" y="76200"/>
                  <a:pt x="290286" y="76200"/>
                </a:cubicBezTo>
                <a:lnTo>
                  <a:pt x="348343" y="76200"/>
                </a:lnTo>
                <a:lnTo>
                  <a:pt x="348343" y="127000"/>
                </a:lnTo>
                <a:cubicBezTo>
                  <a:pt x="348343" y="141049"/>
                  <a:pt x="361315" y="152400"/>
                  <a:pt x="377371" y="152400"/>
                </a:cubicBezTo>
                <a:cubicBezTo>
                  <a:pt x="393428" y="152400"/>
                  <a:pt x="406400" y="141049"/>
                  <a:pt x="406400" y="127000"/>
                </a:cubicBezTo>
                <a:lnTo>
                  <a:pt x="406400" y="50800"/>
                </a:lnTo>
                <a:cubicBezTo>
                  <a:pt x="406400" y="36751"/>
                  <a:pt x="393428" y="25400"/>
                  <a:pt x="377371" y="25400"/>
                </a:cubicBezTo>
                <a:lnTo>
                  <a:pt x="290286" y="25400"/>
                </a:lnTo>
                <a:close/>
                <a:moveTo>
                  <a:pt x="406400" y="279400"/>
                </a:moveTo>
                <a:cubicBezTo>
                  <a:pt x="406400" y="265351"/>
                  <a:pt x="393428" y="254000"/>
                  <a:pt x="377371" y="254000"/>
                </a:cubicBezTo>
                <a:cubicBezTo>
                  <a:pt x="361315" y="254000"/>
                  <a:pt x="348343" y="265351"/>
                  <a:pt x="348343" y="279400"/>
                </a:cubicBezTo>
                <a:lnTo>
                  <a:pt x="348343" y="330200"/>
                </a:lnTo>
                <a:lnTo>
                  <a:pt x="290286" y="330200"/>
                </a:lnTo>
                <a:cubicBezTo>
                  <a:pt x="274229" y="330200"/>
                  <a:pt x="261257" y="341551"/>
                  <a:pt x="261257" y="355600"/>
                </a:cubicBezTo>
                <a:cubicBezTo>
                  <a:pt x="261257" y="369649"/>
                  <a:pt x="274229" y="381000"/>
                  <a:pt x="290286" y="381000"/>
                </a:cubicBezTo>
                <a:lnTo>
                  <a:pt x="377371" y="381000"/>
                </a:lnTo>
                <a:cubicBezTo>
                  <a:pt x="393428" y="381000"/>
                  <a:pt x="406400" y="369649"/>
                  <a:pt x="406400" y="355600"/>
                </a:cubicBezTo>
                <a:lnTo>
                  <a:pt x="406400" y="279400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9309100" y="152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MODE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63000" y="20574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Shortcut: Cmd+Shift+F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63000" y="2476500"/>
            <a:ext cx="647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Hides sidebar, header, right panel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Distraction-free work environment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Faster context switching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More sessions managed per hour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 UI clutter = faster workflow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5270500"/>
            <a:ext cx="14732000" cy="1905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9500" y="5486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1549400" y="548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PREVIEW AGENT TOGGLE (June 2026)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9500" y="5969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"Preview upcoming features"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agent selector for: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thoughts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see Devin's reasoning in real-time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execution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reduced latency on responses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⚠ Trade-off: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Stability may be limited. Use for well-scoped, low-risk tasks.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2000" y="7493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9500" y="7620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⚡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Result: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Focus Mode lets me manage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12+ sessions per hour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vs 8 before. Agents Tab eliminated tab-switching entirely for parallel work. Preview Agent gives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~15% speed boost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simple tasks.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DUPLICATE RESEARCH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6731000" cy="3937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5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72244"/>
                </a:moveTo>
                <a:cubicBezTo>
                  <a:pt x="230370" y="172244"/>
                  <a:pt x="273050" y="134899"/>
                  <a:pt x="273050" y="88900"/>
                </a:cubicBezTo>
                <a:cubicBezTo>
                  <a:pt x="273050" y="42901"/>
                  <a:pt x="230370" y="5556"/>
                  <a:pt x="177800" y="5556"/>
                </a:cubicBezTo>
                <a:cubicBezTo>
                  <a:pt x="125230" y="5556"/>
                  <a:pt x="82550" y="42901"/>
                  <a:pt x="82550" y="88900"/>
                </a:cubicBezTo>
                <a:cubicBezTo>
                  <a:pt x="82550" y="134899"/>
                  <a:pt x="125230" y="172244"/>
                  <a:pt x="177800" y="172244"/>
                </a:cubicBezTo>
                <a:close/>
                <a:moveTo>
                  <a:pt x="154226" y="211138"/>
                </a:moveTo>
                <a:cubicBezTo>
                  <a:pt x="76041" y="211138"/>
                  <a:pt x="12700" y="266561"/>
                  <a:pt x="12700" y="334972"/>
                </a:cubicBezTo>
                <a:cubicBezTo>
                  <a:pt x="12700" y="346363"/>
                  <a:pt x="23257" y="355600"/>
                  <a:pt x="36274" y="355600"/>
                </a:cubicBezTo>
                <a:lnTo>
                  <a:pt x="319326" y="355600"/>
                </a:lnTo>
                <a:cubicBezTo>
                  <a:pt x="332343" y="355600"/>
                  <a:pt x="342900" y="346363"/>
                  <a:pt x="342900" y="334972"/>
                </a:cubicBezTo>
                <a:cubicBezTo>
                  <a:pt x="342900" y="266561"/>
                  <a:pt x="279559" y="211138"/>
                  <a:pt x="201374" y="211138"/>
                </a:cubicBezTo>
                <a:lnTo>
                  <a:pt x="154226" y="211138"/>
                </a:lnTo>
                <a:close/>
              </a:path>
            </a:pathLst>
          </a:cu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15494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A (You)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9500" y="2032000"/>
            <a:ext cx="6159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Opened a Devin session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Did extensive research (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 messages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Created implementation plan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New session for implementation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 merged and closed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Cost: 8 ACUs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Time: 2-3 hours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63000" y="1333500"/>
            <a:ext cx="6731000" cy="3937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805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72244"/>
                </a:moveTo>
                <a:cubicBezTo>
                  <a:pt x="230370" y="172244"/>
                  <a:pt x="273050" y="134899"/>
                  <a:pt x="273050" y="88900"/>
                </a:cubicBezTo>
                <a:cubicBezTo>
                  <a:pt x="273050" y="42901"/>
                  <a:pt x="230370" y="5556"/>
                  <a:pt x="177800" y="5556"/>
                </a:cubicBezTo>
                <a:cubicBezTo>
                  <a:pt x="125230" y="5556"/>
                  <a:pt x="82550" y="42901"/>
                  <a:pt x="82550" y="88900"/>
                </a:cubicBezTo>
                <a:cubicBezTo>
                  <a:pt x="82550" y="134899"/>
                  <a:pt x="125230" y="172244"/>
                  <a:pt x="177800" y="172244"/>
                </a:cubicBezTo>
                <a:close/>
                <a:moveTo>
                  <a:pt x="154226" y="211138"/>
                </a:moveTo>
                <a:cubicBezTo>
                  <a:pt x="76041" y="211138"/>
                  <a:pt x="12700" y="266561"/>
                  <a:pt x="12700" y="334972"/>
                </a:cubicBezTo>
                <a:cubicBezTo>
                  <a:pt x="12700" y="346363"/>
                  <a:pt x="23257" y="355600"/>
                  <a:pt x="36274" y="355600"/>
                </a:cubicBezTo>
                <a:lnTo>
                  <a:pt x="319326" y="355600"/>
                </a:lnTo>
                <a:cubicBezTo>
                  <a:pt x="332343" y="355600"/>
                  <a:pt x="342900" y="346363"/>
                  <a:pt x="342900" y="334972"/>
                </a:cubicBezTo>
                <a:cubicBezTo>
                  <a:pt x="342900" y="266561"/>
                  <a:pt x="279559" y="211138"/>
                  <a:pt x="201374" y="211138"/>
                </a:cubicBezTo>
                <a:lnTo>
                  <a:pt x="154226" y="211138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95504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B (Teammate)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80500" y="2032000"/>
            <a:ext cx="6159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Opened a Devin session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Did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SAME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research (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 messages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Created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SAME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Did the same work all over again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Same result, same cost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Cost: 8 ACUs (wasted)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Time: 2-3 hours (wasted)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3000" y="2794000"/>
            <a:ext cx="1270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4C3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55880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74C3C">
              <a:alpha val="12549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584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714500" y="5842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63500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research × Same ACUs × Same time =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Team-wide inefficiency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With 10 developers, that's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 ACUs wasted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the same problem.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7429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HAPPENS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781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system to capture and share research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developer starts from scratch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has no memory of past sessions for OTHER developers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Knowledge exists in heads, not in the 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225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9525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learnings from every completed session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625600"/>
            <a:ext cx="70485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177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DEVIN ANALYZES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59000"/>
            <a:ext cx="6540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 Timeline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Color-coded: Red=high, Yellow=med, Green=value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Issues Detected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Build failures, env problems, scope ambiguity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Feedback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Improved prompt suggestions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Metrics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ACU usage, messages, size classification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45500" y="1625600"/>
            <a:ext cx="70485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99500" y="177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2159000"/>
            <a:ext cx="654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ANY session completes, click the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"Session Insights"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button in the top bar. Devin analyzes the entire session automatically.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99500" y="2895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PROMPT: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99500" y="31750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this session where I investigated the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timeout issue. Extract key findings, root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cause, solution approach, and patterns.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2000" y="4508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" y="476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4762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9500" y="5143500"/>
            <a:ext cx="140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Insights is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it costs 0 ACUs. Use it after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research session to extract learnings that become Knowledge items.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032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 algn="l">
              <a:lnSpc>
                <a:spcPct val="120000"/>
              </a:lnSpc>
            </a:pPr>
            <a:r>
              <a:rPr lang="en-US" sz="1200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docs.devin.ai/product-guides/session-insights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2000" y="6540500"/>
            <a:ext cx="147320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9500" y="6705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NEXT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9500" y="70866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Session Insights output becomes the raw material for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 (Knowledge)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 (Playbook)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You copy the key findings directly into a new Knowledge item or use them to create a playbook template.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 of Session Insights as the "refinery" — it turns raw session data into structured, shareable knowledge.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225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KNOWLEDGE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9525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1016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Organization-Wide Sharing — Auto-Retrieved by Devin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6256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16891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"Devin retrieves Knowledge when relevant, not all at once or all at the beginning."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476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CREATE FROM SESSION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28194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this session's research on payment timeout,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 Knowledge item for future developers: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- Symptoms to look for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- Root cause and solution approach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- Files modified and edge cases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45720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472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IT GOES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50546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 Knowledge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All members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Knowledge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All orgs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retrieved when relevant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78500" y="45720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2500" y="472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SETTINGS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2500" y="50546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repo:acme-web AND (payment OR timeout)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Pin to Repo: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Always loaded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!payment-timeout-fix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795000" y="45720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49000" y="4724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NEXT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049000" y="50546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Developer B mentions "payment timeout",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AUTO-RETRIEVES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Knowledge.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manual search. No duplicate research.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2000" y="6540500"/>
            <a:ext cx="14732000" cy="1841500"/>
          </a:xfrm>
          <a:prstGeom prst="roundRect">
            <a:avLst>
              <a:gd name="adj" fmla="val 6000"/>
            </a:avLst>
          </a:prstGeom>
          <a:solidFill>
            <a:srgbClr val="1E293B">
              <a:alpha val="25098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9500" y="6921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Session Insights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Extracted findings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64000" y="7302500"/>
            <a:ext cx="635000" cy="0"/>
          </a:xfrm>
          <a:prstGeom prst="straightConnector1">
            <a:avLst/>
          </a:prstGeom>
          <a:noFill/>
          <a:ln w="25400">
            <a:solidFill>
              <a:srgbClr val="3498DB"/>
            </a:solidFill>
            <a:prstDash val="solid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4762500" y="6921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Item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498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Org-wide, triggered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47000" y="7302500"/>
            <a:ext cx="635000" cy="0"/>
          </a:xfrm>
          <a:prstGeom prst="straightConnector1">
            <a:avLst/>
          </a:prstGeom>
          <a:noFill/>
          <a:ln w="25400">
            <a:solidFill>
              <a:srgbClr val="2ECC71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8445500" y="6921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Developer B Starts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Mentions "payment timeout"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430000" y="7302500"/>
            <a:ext cx="635000" cy="0"/>
          </a:xfrm>
          <a:prstGeom prst="straightConnector1">
            <a:avLst/>
          </a:prstGeom>
          <a:noFill/>
          <a:ln w="25400">
            <a:solidFill>
              <a:srgbClr val="2ECC71"/>
            </a:solidFill>
            <a:prstDash val="solid"/>
            <a:headEnd type="none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12128500" y="69215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Auto-retrieved Knowledge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2000" y="8509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 algn="l">
              <a:lnSpc>
                <a:spcPct val="120000"/>
              </a:lnSpc>
            </a:pPr>
            <a:r>
              <a:rPr lang="en-US" sz="1100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docs.devin.ai/product-guides/knowledge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225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PLAYBOOK FROM SESSION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9525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 a successful session into a reusable template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1625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CREATE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1968500"/>
            <a:ext cx="812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session fixed a payment timeout issue.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 reusable playbook called 'Payment Issue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Investigation' that any on-call engineer can use.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Include: procedure, debugging commands, fix pattern,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verification steps, and PR template.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3746500"/>
            <a:ext cx="8128000" cy="1778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38989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DEVIN PRODUCES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42545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Procedure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step-by-step investigation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what must be true after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Advice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correct Devin's defaults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Forbidden Actions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what Devin must NEVER do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Required from User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what you need to provide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5778500"/>
            <a:ext cx="8128000" cy="1143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000" y="6032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1435100" y="6032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 A MACRO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16000" y="6413500"/>
            <a:ext cx="762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!payment-investigation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any developer types this and gets your entire research distilled into a template.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98000" y="1625600"/>
            <a:ext cx="6096000" cy="52959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5500" y="184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715500" y="2260600"/>
            <a:ext cx="54610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500" y="24384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B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encounters same issue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Types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!payment-investigation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430000" y="3238500"/>
            <a:ext cx="0" cy="317500"/>
          </a:xfrm>
          <a:prstGeom prst="straightConnector1">
            <a:avLst/>
          </a:prstGeom>
          <a:noFill/>
          <a:ln w="25400">
            <a:solidFill>
              <a:srgbClr val="3498DB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9715500" y="36195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Playbook loads instantly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Full template with your research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430000" y="4419600"/>
            <a:ext cx="0" cy="317500"/>
          </a:xfrm>
          <a:prstGeom prst="straightConnector1">
            <a:avLst/>
          </a:prstGeom>
          <a:noFill/>
          <a:ln w="25400">
            <a:solidFill>
              <a:srgbClr val="2ECC71"/>
            </a:solidFill>
            <a:prstDash val="solid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9715500" y="48260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follows YOUR proven path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No research needed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430000" y="5626100"/>
            <a:ext cx="0" cy="317500"/>
          </a:xfrm>
          <a:prstGeom prst="straightConnector1">
            <a:avLst/>
          </a:prstGeom>
          <a:noFill/>
          <a:ln w="25400">
            <a:solidFill>
              <a:srgbClr val="2ECC71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9715500" y="6032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ACUs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used (vs 8 for you)</a:t>
            </a:r>
            <a:endParaRPr lang="en-US" sz="2800" dirty="0"/>
          </a:p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ECC7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75% ACU savings for the team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62000" y="85090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 algn="l">
              <a:lnSpc>
                <a:spcPct val="120000"/>
              </a:lnSpc>
            </a:pPr>
            <a:r>
              <a:rPr lang="en-US" sz="1100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docs.devin.ai/work-with-devin/advanced-capabilities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225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SLACK INTEGRATION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9525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Sharing — Mirror Sessions in Slack Channels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651000"/>
            <a:ext cx="7048500" cy="2413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0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4692" y="218847"/>
                </a:moveTo>
                <a:cubicBezTo>
                  <a:pt x="74692" y="236835"/>
                  <a:pt x="57864" y="251559"/>
                  <a:pt x="37306" y="251559"/>
                </a:cubicBezTo>
                <a:cubicBezTo>
                  <a:pt x="16748" y="251559"/>
                  <a:pt x="0" y="236835"/>
                  <a:pt x="0" y="218847"/>
                </a:cubicBezTo>
                <a:cubicBezTo>
                  <a:pt x="0" y="200858"/>
                  <a:pt x="16828" y="186134"/>
                  <a:pt x="37386" y="186134"/>
                </a:cubicBezTo>
                <a:lnTo>
                  <a:pt x="74771" y="186134"/>
                </a:lnTo>
                <a:lnTo>
                  <a:pt x="74771" y="218847"/>
                </a:lnTo>
                <a:close/>
                <a:moveTo>
                  <a:pt x="93504" y="218847"/>
                </a:moveTo>
                <a:cubicBezTo>
                  <a:pt x="93504" y="200858"/>
                  <a:pt x="110331" y="186134"/>
                  <a:pt x="130889" y="186134"/>
                </a:cubicBezTo>
                <a:cubicBezTo>
                  <a:pt x="151448" y="186134"/>
                  <a:pt x="168275" y="200858"/>
                  <a:pt x="168275" y="218847"/>
                </a:cubicBezTo>
                <a:lnTo>
                  <a:pt x="168275" y="300663"/>
                </a:lnTo>
                <a:cubicBezTo>
                  <a:pt x="168275" y="318651"/>
                  <a:pt x="151448" y="333375"/>
                  <a:pt x="130889" y="333375"/>
                </a:cubicBezTo>
                <a:cubicBezTo>
                  <a:pt x="110331" y="333375"/>
                  <a:pt x="93504" y="318651"/>
                  <a:pt x="93504" y="300663"/>
                </a:cubicBezTo>
                <a:lnTo>
                  <a:pt x="93504" y="218847"/>
                </a:lnTo>
                <a:close/>
                <a:moveTo>
                  <a:pt x="130889" y="87580"/>
                </a:moveTo>
                <a:cubicBezTo>
                  <a:pt x="110331" y="87580"/>
                  <a:pt x="93504" y="72856"/>
                  <a:pt x="93504" y="54868"/>
                </a:cubicBezTo>
                <a:cubicBezTo>
                  <a:pt x="93504" y="36880"/>
                  <a:pt x="110331" y="22225"/>
                  <a:pt x="130889" y="22225"/>
                </a:cubicBezTo>
                <a:cubicBezTo>
                  <a:pt x="151448" y="22225"/>
                  <a:pt x="168275" y="36949"/>
                  <a:pt x="168275" y="54937"/>
                </a:cubicBezTo>
                <a:lnTo>
                  <a:pt x="168275" y="87650"/>
                </a:lnTo>
                <a:lnTo>
                  <a:pt x="130889" y="87650"/>
                </a:lnTo>
                <a:close/>
                <a:moveTo>
                  <a:pt x="130889" y="104041"/>
                </a:moveTo>
                <a:cubicBezTo>
                  <a:pt x="151448" y="104041"/>
                  <a:pt x="168275" y="118765"/>
                  <a:pt x="168275" y="136753"/>
                </a:cubicBezTo>
                <a:cubicBezTo>
                  <a:pt x="168275" y="154742"/>
                  <a:pt x="151448" y="169466"/>
                  <a:pt x="130889" y="169466"/>
                </a:cubicBezTo>
                <a:lnTo>
                  <a:pt x="37386" y="169466"/>
                </a:lnTo>
                <a:cubicBezTo>
                  <a:pt x="16828" y="169466"/>
                  <a:pt x="0" y="154742"/>
                  <a:pt x="0" y="136753"/>
                </a:cubicBezTo>
                <a:cubicBezTo>
                  <a:pt x="0" y="118765"/>
                  <a:pt x="16828" y="104041"/>
                  <a:pt x="37386" y="104041"/>
                </a:cubicBezTo>
                <a:lnTo>
                  <a:pt x="130889" y="104041"/>
                </a:lnTo>
                <a:close/>
                <a:moveTo>
                  <a:pt x="280908" y="136753"/>
                </a:moveTo>
                <a:cubicBezTo>
                  <a:pt x="280908" y="118765"/>
                  <a:pt x="297736" y="104041"/>
                  <a:pt x="318294" y="104041"/>
                </a:cubicBezTo>
                <a:cubicBezTo>
                  <a:pt x="338852" y="104041"/>
                  <a:pt x="355600" y="118765"/>
                  <a:pt x="355600" y="136753"/>
                </a:cubicBezTo>
                <a:cubicBezTo>
                  <a:pt x="355600" y="154742"/>
                  <a:pt x="338773" y="169466"/>
                  <a:pt x="318214" y="169466"/>
                </a:cubicBezTo>
                <a:lnTo>
                  <a:pt x="280829" y="169466"/>
                </a:lnTo>
                <a:lnTo>
                  <a:pt x="280829" y="136753"/>
                </a:lnTo>
                <a:close/>
                <a:moveTo>
                  <a:pt x="262096" y="136753"/>
                </a:moveTo>
                <a:cubicBezTo>
                  <a:pt x="262096" y="154742"/>
                  <a:pt x="245269" y="169466"/>
                  <a:pt x="224711" y="169466"/>
                </a:cubicBezTo>
                <a:cubicBezTo>
                  <a:pt x="204152" y="169466"/>
                  <a:pt x="187325" y="154742"/>
                  <a:pt x="187325" y="136753"/>
                </a:cubicBezTo>
                <a:lnTo>
                  <a:pt x="187325" y="54937"/>
                </a:lnTo>
                <a:cubicBezTo>
                  <a:pt x="187325" y="36949"/>
                  <a:pt x="204152" y="22225"/>
                  <a:pt x="224711" y="22225"/>
                </a:cubicBezTo>
                <a:cubicBezTo>
                  <a:pt x="245269" y="22225"/>
                  <a:pt x="262096" y="36949"/>
                  <a:pt x="262096" y="54937"/>
                </a:cubicBezTo>
                <a:lnTo>
                  <a:pt x="262096" y="136753"/>
                </a:lnTo>
                <a:close/>
                <a:moveTo>
                  <a:pt x="224711" y="268020"/>
                </a:moveTo>
                <a:cubicBezTo>
                  <a:pt x="245269" y="268020"/>
                  <a:pt x="262096" y="282744"/>
                  <a:pt x="262096" y="300732"/>
                </a:cubicBezTo>
                <a:cubicBezTo>
                  <a:pt x="262096" y="318720"/>
                  <a:pt x="245269" y="333375"/>
                  <a:pt x="224711" y="333375"/>
                </a:cubicBezTo>
                <a:cubicBezTo>
                  <a:pt x="204153" y="333375"/>
                  <a:pt x="187325" y="318651"/>
                  <a:pt x="187325" y="300663"/>
                </a:cubicBezTo>
                <a:lnTo>
                  <a:pt x="187325" y="267950"/>
                </a:lnTo>
                <a:lnTo>
                  <a:pt x="224711" y="267950"/>
                </a:lnTo>
                <a:close/>
                <a:moveTo>
                  <a:pt x="224711" y="251559"/>
                </a:moveTo>
                <a:cubicBezTo>
                  <a:pt x="204152" y="251559"/>
                  <a:pt x="187325" y="236835"/>
                  <a:pt x="187325" y="218847"/>
                </a:cubicBezTo>
                <a:cubicBezTo>
                  <a:pt x="187325" y="200858"/>
                  <a:pt x="204152" y="186134"/>
                  <a:pt x="224711" y="186134"/>
                </a:cubicBezTo>
                <a:lnTo>
                  <a:pt x="318214" y="186134"/>
                </a:lnTo>
                <a:cubicBezTo>
                  <a:pt x="338773" y="186134"/>
                  <a:pt x="355600" y="200858"/>
                  <a:pt x="355600" y="218847"/>
                </a:cubicBezTo>
                <a:cubicBezTo>
                  <a:pt x="355600" y="236835"/>
                  <a:pt x="338773" y="251559"/>
                  <a:pt x="318214" y="251559"/>
                </a:cubicBezTo>
                <a:lnTo>
                  <a:pt x="224711" y="251559"/>
                </a:lnTo>
                <a:close/>
              </a:path>
            </a:pathLst>
          </a:cu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184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2860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you start a session from the web app, click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"Send to channel"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mirror the entire session in Slack.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teammates see everything in real-time: research path, findings, and final solution — 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they start their own session.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45500" y="1651000"/>
            <a:ext cx="7048500" cy="2413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99500" y="184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USE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2286000"/>
            <a:ext cx="65405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 your research session in Devin web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Click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"Send to channel"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Select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#dev-team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#incidents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Your entire session mirrors in Slack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4381500"/>
            <a:ext cx="7048500" cy="203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45339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TEAMMATES SEE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16000" y="4889500"/>
            <a:ext cx="654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 updates on what Devin is doing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research path you're taking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Findings as they emerge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final solution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45500" y="4381500"/>
            <a:ext cx="7048500" cy="2032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9500" y="45339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99500" y="4889500"/>
            <a:ext cx="654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B sees your session in Slack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starting their own. They can: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Follow your research instead of duplicating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 context if they know something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Wait for your PR instead of starting fresh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6731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9500" y="698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" y="698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9500" y="73914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Slack integration provides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passive knowledge sharing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Teammates don't need to search — the research comes to them. Combined with Knowledge items (Step 2) and Playbooks (Step 3), this creates a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three-layer defense against duplicate research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2000" y="8509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 algn="l">
              <a:lnSpc>
                <a:spcPct val="120000"/>
              </a:lnSpc>
            </a:pPr>
            <a:r>
              <a:rPr lang="en-US" sz="1100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cognition.ai/blog/dec-24-product-update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225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SCHEDULED KNOWLEDGE MAINTENANCE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9525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Your Knowledge Base Clean and Current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651000"/>
            <a:ext cx="7048500" cy="165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1803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6000" y="2159000"/>
            <a:ext cx="654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up </a:t>
            </a:r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recurring Devin sessions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maintain your Knowledge base — deduplicate entries, resolve conflicts, and fill gaps automatically.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Location: Settings &gt; Schedules &gt; Create Schedule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45500" y="1651000"/>
            <a:ext cx="7048500" cy="1651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99500" y="1803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SET 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99500" y="2159000"/>
            <a:ext cx="654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 schedule every Monday 8 AM to: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1. Review knowledge for duplicates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2. Merge similar entries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3. Resolve conflicting guidance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2000" y="36195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9500" y="393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393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9500" y="43815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maintenance, your Knowledge base becomes a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conflicting guidance, stale entries, duplicates. With maintenance, it becomes a </a:t>
            </a:r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compounding asset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gets more valuable over time. Every week it grows smarter.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558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vs WITH MAINTENANCE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5994400"/>
            <a:ext cx="7048500" cy="1968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615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(Month 3)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6000" y="6502400"/>
            <a:ext cx="6540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 conflicting entries on auth patterns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 duplicate "testing standards" items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 stale entries from deprecated APIs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loads wrong guidance → wastes ACUs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45500" y="5994400"/>
            <a:ext cx="7048500" cy="1968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99500" y="615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(Month 6)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99500" y="6502400"/>
            <a:ext cx="6540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Clean, deduplicated knowledge base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conflicting guidance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entries current and validated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loads correct guidance → saves ACUs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2000" y="8509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 algn="l">
              <a:lnSpc>
                <a:spcPct val="120000"/>
              </a:lnSpc>
            </a:pPr>
            <a:r>
              <a:rPr lang="en-US" sz="1100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docs.devin.ai/product-guides/scheduled-sessions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22500" y="38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 KNOWLEDGE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9525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143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Auto-Generated Codebase Understanding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714500"/>
            <a:ext cx="70485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9500" y="1930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2571" y="82550"/>
                </a:moveTo>
                <a:cubicBezTo>
                  <a:pt x="84587" y="82550"/>
                  <a:pt x="94343" y="74014"/>
                  <a:pt x="94343" y="63500"/>
                </a:cubicBezTo>
                <a:cubicBezTo>
                  <a:pt x="94343" y="52986"/>
                  <a:pt x="84587" y="44450"/>
                  <a:pt x="72571" y="44450"/>
                </a:cubicBezTo>
                <a:cubicBezTo>
                  <a:pt x="60555" y="44450"/>
                  <a:pt x="50800" y="52986"/>
                  <a:pt x="50800" y="63500"/>
                </a:cubicBezTo>
                <a:cubicBezTo>
                  <a:pt x="50800" y="74014"/>
                  <a:pt x="60555" y="82550"/>
                  <a:pt x="72571" y="82550"/>
                </a:cubicBezTo>
                <a:close/>
                <a:moveTo>
                  <a:pt x="145143" y="63500"/>
                </a:moveTo>
                <a:cubicBezTo>
                  <a:pt x="145143" y="89535"/>
                  <a:pt x="127272" y="111919"/>
                  <a:pt x="101600" y="121682"/>
                </a:cubicBezTo>
                <a:lnTo>
                  <a:pt x="101600" y="177800"/>
                </a:lnTo>
                <a:lnTo>
                  <a:pt x="261257" y="177800"/>
                </a:lnTo>
                <a:cubicBezTo>
                  <a:pt x="285296" y="177800"/>
                  <a:pt x="304800" y="160734"/>
                  <a:pt x="304800" y="139700"/>
                </a:cubicBezTo>
                <a:lnTo>
                  <a:pt x="304800" y="121682"/>
                </a:lnTo>
                <a:cubicBezTo>
                  <a:pt x="279128" y="111919"/>
                  <a:pt x="261257" y="89535"/>
                  <a:pt x="261257" y="63500"/>
                </a:cubicBezTo>
                <a:cubicBezTo>
                  <a:pt x="261257" y="28416"/>
                  <a:pt x="293733" y="0"/>
                  <a:pt x="333829" y="0"/>
                </a:cubicBezTo>
                <a:cubicBezTo>
                  <a:pt x="373924" y="0"/>
                  <a:pt x="406400" y="28416"/>
                  <a:pt x="406400" y="63500"/>
                </a:cubicBezTo>
                <a:cubicBezTo>
                  <a:pt x="406400" y="89535"/>
                  <a:pt x="388529" y="111919"/>
                  <a:pt x="362857" y="121682"/>
                </a:cubicBezTo>
                <a:lnTo>
                  <a:pt x="362857" y="139700"/>
                </a:lnTo>
                <a:cubicBezTo>
                  <a:pt x="362857" y="188833"/>
                  <a:pt x="317409" y="228600"/>
                  <a:pt x="261257" y="228600"/>
                </a:cubicBezTo>
                <a:lnTo>
                  <a:pt x="101600" y="228600"/>
                </a:lnTo>
                <a:lnTo>
                  <a:pt x="101600" y="284718"/>
                </a:lnTo>
                <a:cubicBezTo>
                  <a:pt x="127272" y="294481"/>
                  <a:pt x="145143" y="316865"/>
                  <a:pt x="145143" y="342900"/>
                </a:cubicBezTo>
                <a:cubicBezTo>
                  <a:pt x="145143" y="377984"/>
                  <a:pt x="112667" y="406400"/>
                  <a:pt x="72571" y="406400"/>
                </a:cubicBezTo>
                <a:cubicBezTo>
                  <a:pt x="32476" y="406400"/>
                  <a:pt x="0" y="377984"/>
                  <a:pt x="0" y="342900"/>
                </a:cubicBezTo>
                <a:cubicBezTo>
                  <a:pt x="0" y="316865"/>
                  <a:pt x="17871" y="294481"/>
                  <a:pt x="43543" y="284718"/>
                </a:cubicBezTo>
                <a:lnTo>
                  <a:pt x="43543" y="121761"/>
                </a:lnTo>
                <a:cubicBezTo>
                  <a:pt x="17871" y="111919"/>
                  <a:pt x="0" y="89535"/>
                  <a:pt x="0" y="63500"/>
                </a:cubicBezTo>
                <a:cubicBezTo>
                  <a:pt x="0" y="28416"/>
                  <a:pt x="32476" y="0"/>
                  <a:pt x="72571" y="0"/>
                </a:cubicBezTo>
                <a:cubicBezTo>
                  <a:pt x="112667" y="0"/>
                  <a:pt x="145143" y="28416"/>
                  <a:pt x="145143" y="63500"/>
                </a:cubicBezTo>
                <a:close/>
                <a:moveTo>
                  <a:pt x="355600" y="63500"/>
                </a:moveTo>
                <a:cubicBezTo>
                  <a:pt x="355600" y="52986"/>
                  <a:pt x="345845" y="44450"/>
                  <a:pt x="333829" y="44450"/>
                </a:cubicBezTo>
                <a:cubicBezTo>
                  <a:pt x="321813" y="44450"/>
                  <a:pt x="312057" y="52986"/>
                  <a:pt x="312057" y="63500"/>
                </a:cubicBezTo>
                <a:cubicBezTo>
                  <a:pt x="312057" y="74014"/>
                  <a:pt x="321813" y="82550"/>
                  <a:pt x="333829" y="82550"/>
                </a:cubicBezTo>
                <a:cubicBezTo>
                  <a:pt x="345845" y="82550"/>
                  <a:pt x="355600" y="74014"/>
                  <a:pt x="355600" y="63500"/>
                </a:cubicBezTo>
                <a:close/>
                <a:moveTo>
                  <a:pt x="72571" y="361950"/>
                </a:moveTo>
                <a:cubicBezTo>
                  <a:pt x="84587" y="361950"/>
                  <a:pt x="94343" y="353414"/>
                  <a:pt x="94343" y="342900"/>
                </a:cubicBezTo>
                <a:cubicBezTo>
                  <a:pt x="94343" y="332386"/>
                  <a:pt x="84587" y="323850"/>
                  <a:pt x="72571" y="323850"/>
                </a:cubicBezTo>
                <a:cubicBezTo>
                  <a:pt x="60555" y="323850"/>
                  <a:pt x="50800" y="332386"/>
                  <a:pt x="50800" y="342900"/>
                </a:cubicBezTo>
                <a:cubicBezTo>
                  <a:pt x="50800" y="353414"/>
                  <a:pt x="60555" y="361950"/>
                  <a:pt x="72571" y="361950"/>
                </a:cubicBezTo>
                <a:close/>
              </a:path>
            </a:pathLst>
          </a:cu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1625600" y="1930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9500" y="2476500"/>
            <a:ext cx="6477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</a:t>
            </a:r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scans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your repositories and generates understanding of: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Codebase structure and architecture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Components and patterns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Conventions and dependencies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across ALL sessions in your organization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45500" y="1714500"/>
            <a:ext cx="70485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63000" y="1930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5843" y="-21431"/>
                </a:moveTo>
                <a:lnTo>
                  <a:pt x="196286" y="7779"/>
                </a:lnTo>
                <a:lnTo>
                  <a:pt x="222250" y="19526"/>
                </a:lnTo>
                <a:cubicBezTo>
                  <a:pt x="224367" y="20479"/>
                  <a:pt x="225778" y="22860"/>
                  <a:pt x="225778" y="25400"/>
                </a:cubicBezTo>
                <a:cubicBezTo>
                  <a:pt x="225778" y="27940"/>
                  <a:pt x="224367" y="30321"/>
                  <a:pt x="222250" y="31274"/>
                </a:cubicBezTo>
                <a:lnTo>
                  <a:pt x="196286" y="43021"/>
                </a:lnTo>
                <a:lnTo>
                  <a:pt x="185843" y="72231"/>
                </a:lnTo>
                <a:cubicBezTo>
                  <a:pt x="184997" y="74613"/>
                  <a:pt x="182880" y="76200"/>
                  <a:pt x="180622" y="76200"/>
                </a:cubicBezTo>
                <a:cubicBezTo>
                  <a:pt x="178364" y="76200"/>
                  <a:pt x="176248" y="74613"/>
                  <a:pt x="175401" y="72231"/>
                </a:cubicBezTo>
                <a:lnTo>
                  <a:pt x="164959" y="43021"/>
                </a:lnTo>
                <a:lnTo>
                  <a:pt x="138994" y="31274"/>
                </a:lnTo>
                <a:cubicBezTo>
                  <a:pt x="136878" y="30321"/>
                  <a:pt x="135467" y="27940"/>
                  <a:pt x="135467" y="25400"/>
                </a:cubicBezTo>
                <a:cubicBezTo>
                  <a:pt x="135467" y="22860"/>
                  <a:pt x="136878" y="20479"/>
                  <a:pt x="138994" y="19526"/>
                </a:cubicBezTo>
                <a:lnTo>
                  <a:pt x="164959" y="7779"/>
                </a:lnTo>
                <a:lnTo>
                  <a:pt x="175401" y="-21431"/>
                </a:lnTo>
                <a:cubicBezTo>
                  <a:pt x="176248" y="-23812"/>
                  <a:pt x="178364" y="-25400"/>
                  <a:pt x="180622" y="-25400"/>
                </a:cubicBezTo>
                <a:cubicBezTo>
                  <a:pt x="182880" y="-25400"/>
                  <a:pt x="184997" y="-23812"/>
                  <a:pt x="185843" y="-21431"/>
                </a:cubicBezTo>
                <a:close/>
                <a:moveTo>
                  <a:pt x="78105" y="33099"/>
                </a:moveTo>
                <a:lnTo>
                  <a:pt x="93274" y="72866"/>
                </a:lnTo>
                <a:lnTo>
                  <a:pt x="128623" y="89932"/>
                </a:lnTo>
                <a:cubicBezTo>
                  <a:pt x="132786" y="91916"/>
                  <a:pt x="135467" y="96520"/>
                  <a:pt x="135467" y="101600"/>
                </a:cubicBezTo>
                <a:cubicBezTo>
                  <a:pt x="135467" y="106680"/>
                  <a:pt x="132786" y="111284"/>
                  <a:pt x="128623" y="113268"/>
                </a:cubicBezTo>
                <a:lnTo>
                  <a:pt x="93274" y="130334"/>
                </a:lnTo>
                <a:lnTo>
                  <a:pt x="78105" y="170101"/>
                </a:lnTo>
                <a:cubicBezTo>
                  <a:pt x="76341" y="174784"/>
                  <a:pt x="72249" y="177800"/>
                  <a:pt x="67733" y="177800"/>
                </a:cubicBezTo>
                <a:cubicBezTo>
                  <a:pt x="63218" y="177800"/>
                  <a:pt x="59126" y="174784"/>
                  <a:pt x="57362" y="170101"/>
                </a:cubicBezTo>
                <a:lnTo>
                  <a:pt x="42192" y="130334"/>
                </a:lnTo>
                <a:lnTo>
                  <a:pt x="6844" y="113268"/>
                </a:lnTo>
                <a:cubicBezTo>
                  <a:pt x="2681" y="111284"/>
                  <a:pt x="0" y="106680"/>
                  <a:pt x="0" y="101600"/>
                </a:cubicBezTo>
                <a:cubicBezTo>
                  <a:pt x="0" y="96520"/>
                  <a:pt x="2681" y="91916"/>
                  <a:pt x="6844" y="89932"/>
                </a:cubicBezTo>
                <a:lnTo>
                  <a:pt x="42192" y="72866"/>
                </a:lnTo>
                <a:lnTo>
                  <a:pt x="57362" y="33099"/>
                </a:lnTo>
                <a:cubicBezTo>
                  <a:pt x="59126" y="28416"/>
                  <a:pt x="63218" y="25400"/>
                  <a:pt x="67733" y="25400"/>
                </a:cubicBezTo>
                <a:cubicBezTo>
                  <a:pt x="72249" y="25400"/>
                  <a:pt x="76341" y="28416"/>
                  <a:pt x="78105" y="33099"/>
                </a:cubicBezTo>
                <a:close/>
                <a:moveTo>
                  <a:pt x="327378" y="241300"/>
                </a:moveTo>
                <a:cubicBezTo>
                  <a:pt x="331893" y="241300"/>
                  <a:pt x="335986" y="244316"/>
                  <a:pt x="337749" y="248999"/>
                </a:cubicBezTo>
                <a:lnTo>
                  <a:pt x="352919" y="288766"/>
                </a:lnTo>
                <a:lnTo>
                  <a:pt x="388267" y="305832"/>
                </a:lnTo>
                <a:cubicBezTo>
                  <a:pt x="392430" y="307816"/>
                  <a:pt x="395111" y="312420"/>
                  <a:pt x="395111" y="317500"/>
                </a:cubicBezTo>
                <a:cubicBezTo>
                  <a:pt x="395111" y="322580"/>
                  <a:pt x="392430" y="327184"/>
                  <a:pt x="388267" y="329168"/>
                </a:cubicBezTo>
                <a:lnTo>
                  <a:pt x="352919" y="346234"/>
                </a:lnTo>
                <a:lnTo>
                  <a:pt x="337749" y="386001"/>
                </a:lnTo>
                <a:cubicBezTo>
                  <a:pt x="335986" y="390684"/>
                  <a:pt x="331893" y="393700"/>
                  <a:pt x="327378" y="393700"/>
                </a:cubicBezTo>
                <a:cubicBezTo>
                  <a:pt x="322862" y="393700"/>
                  <a:pt x="318770" y="390684"/>
                  <a:pt x="317006" y="386001"/>
                </a:cubicBezTo>
                <a:lnTo>
                  <a:pt x="301837" y="346234"/>
                </a:lnTo>
                <a:lnTo>
                  <a:pt x="266488" y="329168"/>
                </a:lnTo>
                <a:cubicBezTo>
                  <a:pt x="262326" y="327184"/>
                  <a:pt x="259644" y="322580"/>
                  <a:pt x="259644" y="317500"/>
                </a:cubicBezTo>
                <a:cubicBezTo>
                  <a:pt x="259644" y="312420"/>
                  <a:pt x="262326" y="307816"/>
                  <a:pt x="266488" y="305832"/>
                </a:cubicBezTo>
                <a:lnTo>
                  <a:pt x="301837" y="288766"/>
                </a:lnTo>
                <a:lnTo>
                  <a:pt x="317006" y="248999"/>
                </a:lnTo>
                <a:cubicBezTo>
                  <a:pt x="318770" y="244316"/>
                  <a:pt x="322862" y="241300"/>
                  <a:pt x="327378" y="241300"/>
                </a:cubicBezTo>
                <a:close/>
                <a:moveTo>
                  <a:pt x="324556" y="0"/>
                </a:moveTo>
                <a:cubicBezTo>
                  <a:pt x="332317" y="0"/>
                  <a:pt x="339796" y="3493"/>
                  <a:pt x="345369" y="9684"/>
                </a:cubicBezTo>
                <a:lnTo>
                  <a:pt x="375214" y="43259"/>
                </a:lnTo>
                <a:cubicBezTo>
                  <a:pt x="380718" y="49530"/>
                  <a:pt x="383822" y="57944"/>
                  <a:pt x="383822" y="66675"/>
                </a:cubicBezTo>
                <a:cubicBezTo>
                  <a:pt x="383822" y="75406"/>
                  <a:pt x="380718" y="83820"/>
                  <a:pt x="375214" y="90091"/>
                </a:cubicBezTo>
                <a:lnTo>
                  <a:pt x="312984" y="160099"/>
                </a:lnTo>
                <a:lnTo>
                  <a:pt x="241512" y="79693"/>
                </a:lnTo>
                <a:lnTo>
                  <a:pt x="303742" y="9684"/>
                </a:lnTo>
                <a:cubicBezTo>
                  <a:pt x="309316" y="3493"/>
                  <a:pt x="316794" y="0"/>
                  <a:pt x="324556" y="0"/>
                </a:cubicBezTo>
                <a:close/>
                <a:moveTo>
                  <a:pt x="31186" y="316309"/>
                </a:moveTo>
                <a:lnTo>
                  <a:pt x="217593" y="106601"/>
                </a:lnTo>
                <a:lnTo>
                  <a:pt x="289066" y="187008"/>
                </a:lnTo>
                <a:lnTo>
                  <a:pt x="102658" y="396716"/>
                </a:lnTo>
                <a:cubicBezTo>
                  <a:pt x="97084" y="402908"/>
                  <a:pt x="89606" y="406400"/>
                  <a:pt x="81844" y="406400"/>
                </a:cubicBezTo>
                <a:cubicBezTo>
                  <a:pt x="74083" y="406400"/>
                  <a:pt x="66604" y="402908"/>
                  <a:pt x="61031" y="396716"/>
                </a:cubicBezTo>
                <a:lnTo>
                  <a:pt x="31186" y="363141"/>
                </a:lnTo>
                <a:cubicBezTo>
                  <a:pt x="25682" y="356870"/>
                  <a:pt x="22578" y="348456"/>
                  <a:pt x="22578" y="339725"/>
                </a:cubicBezTo>
                <a:cubicBezTo>
                  <a:pt x="22578" y="330994"/>
                  <a:pt x="25682" y="322580"/>
                  <a:pt x="31186" y="316309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9309100" y="1930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HELPS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63000" y="2476500"/>
            <a:ext cx="6477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Developer B starts a session: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ALREADY knows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your codebase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need to re-explain architecture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need to describe file structure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"exploration" phase is </a:t>
            </a:r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dramatically shortened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2000" y="4572000"/>
            <a:ext cx="5080000" cy="1270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4724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TO FIND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6000" y="5054600"/>
            <a:ext cx="457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Settings &amp; Library → Knowledge → Repo Knowledge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Auto-generated, no setup required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0000" y="4572000"/>
            <a:ext cx="9144000" cy="1270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7500" y="4762500"/>
            <a:ext cx="850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Repo Knowledge saves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0.5-1 ACU per session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eliminating the "explore codebase" phase. For a team of 10 doing 50 sessions/week, that's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25-50 ACUs saved weekly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223000"/>
            <a:ext cx="14732000" cy="2032000"/>
          </a:xfrm>
          <a:prstGeom prst="roundRect">
            <a:avLst>
              <a:gd name="adj" fmla="val 6000"/>
            </a:avLst>
          </a:prstGeom>
          <a:solidFill>
            <a:srgbClr val="1E293B">
              <a:alpha val="25098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9500" y="64135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6-STEP PIPELINE SUMMARY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500" y="6858000"/>
            <a:ext cx="1409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Session Insights →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 Knowledge →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 Playbook →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Slack Share →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Scheduled Maintenance →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6: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Repo Knowledge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Golden Rule: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"Every research session MUST produce Knowledge or a Playbook. No exceptions."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2000" y="85090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</a:t>
            </a:r>
            <a:pPr algn="l">
              <a:lnSpc>
                <a:spcPct val="120000"/>
              </a:lnSpc>
            </a:pPr>
            <a:r>
              <a:rPr lang="en-US" sz="1100" u="sng" dirty="0">
                <a:solidFill>
                  <a:srgbClr val="94A3B8"/>
                </a:solidFill>
                <a:uFill>
                  <a:solidFill>
                    <a:srgbClr val="94A3B8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cognition.ai/blog/dec-24-product-update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PIPELINE VISUALIZED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gradFill rotWithShape="1" flip="none">
            <a:gsLst>
              <a:gs pos="0">
                <a:srgbClr val="3498DB"/>
              </a:gs>
              <a:gs pos="50000">
                <a:srgbClr val="F39C12"/>
              </a:gs>
              <a:gs pos="100000">
                <a:srgbClr val="2ECC71"/>
              </a:gs>
            </a:gsLst>
            <a:lin ang="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4318000" cy="825500"/>
          </a:xfrm>
          <a:prstGeom prst="roundRect">
            <a:avLst>
              <a:gd name="adj" fmla="val 8000"/>
            </a:avLst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889000" y="1397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A's RESEARCH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ACUs, 20 messages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80000" y="1651000"/>
            <a:ext cx="635000" cy="0"/>
          </a:xfrm>
          <a:prstGeom prst="straightConnector1">
            <a:avLst/>
          </a:prstGeom>
          <a:noFill/>
          <a:ln w="25400">
            <a:solidFill>
              <a:srgbClr val="3498DB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715000" y="1333500"/>
            <a:ext cx="2540000" cy="825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78500" y="13970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INSIGHTS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 button → FREE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55000" y="1651000"/>
            <a:ext cx="635000" cy="0"/>
          </a:xfrm>
          <a:prstGeom prst="straightConnector1">
            <a:avLst/>
          </a:prstGeom>
          <a:noFill/>
          <a:ln w="25400">
            <a:solidFill>
              <a:srgbClr val="3498DB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9017000" y="1333500"/>
            <a:ext cx="762000" cy="825500"/>
          </a:xfrm>
          <a:prstGeom prst="diamond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9080500" y="14986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78000" y="1333500"/>
            <a:ext cx="0" cy="-190500"/>
          </a:xfrm>
          <a:prstGeom prst="straightConnector1">
            <a:avLst/>
          </a:prstGeom>
          <a:noFill/>
          <a:ln w="25400">
            <a:solidFill>
              <a:srgbClr val="F39C12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62000" y="1079500"/>
            <a:ext cx="2032000" cy="254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500" y="10795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Auto-retrieved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61000" y="1333500"/>
            <a:ext cx="0" cy="381000"/>
          </a:xfrm>
          <a:prstGeom prst="straightConnector1">
            <a:avLst/>
          </a:prstGeom>
          <a:noFill/>
          <a:ln w="25400">
            <a:solidFill>
              <a:srgbClr val="F39C12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921000" y="1079500"/>
            <a:ext cx="2032000" cy="254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4500" y="10795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PLAYBOOK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!macro-name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79000" y="1651000"/>
            <a:ext cx="635000" cy="0"/>
          </a:xfrm>
          <a:prstGeom prst="straightConnector1">
            <a:avLst/>
          </a:prstGeom>
          <a:noFill/>
          <a:ln w="25400">
            <a:solidFill>
              <a:srgbClr val="3498D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541000" y="1333500"/>
            <a:ext cx="2286000" cy="825500"/>
          </a:xfrm>
          <a:prstGeom prst="roundRect">
            <a:avLst>
              <a:gd name="adj" fmla="val 8000"/>
            </a:avLst>
          </a:prstGeom>
          <a:solidFill>
            <a:srgbClr val="4A154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4500" y="1397000"/>
            <a:ext cx="215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SLACK SHARE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visibility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27000" y="1651000"/>
            <a:ext cx="635000" cy="0"/>
          </a:xfrm>
          <a:prstGeom prst="straightConnector1">
            <a:avLst/>
          </a:prstGeom>
          <a:noFill/>
          <a:ln w="25400">
            <a:solidFill>
              <a:srgbClr val="2ECC71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3589000" y="1333500"/>
            <a:ext cx="1905000" cy="82550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13652500" y="1397000"/>
            <a:ext cx="177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B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Starts session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4541500" y="2159000"/>
            <a:ext cx="0" cy="508000"/>
          </a:xfrm>
          <a:prstGeom prst="straightConnector1">
            <a:avLst/>
          </a:prstGeom>
          <a:noFill/>
          <a:ln w="25400">
            <a:solidFill>
              <a:srgbClr val="2ECC71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2573000" y="2667000"/>
            <a:ext cx="3175000" cy="698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36500" y="27305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AUTO-RETRIEVES Knowledge</a:t>
            </a:r>
            <a:endParaRPr lang="en-US" sz="1200" dirty="0"/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Suggests Playbook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160500" y="3365500"/>
            <a:ext cx="0" cy="508000"/>
          </a:xfrm>
          <a:prstGeom prst="straightConnector1">
            <a:avLst/>
          </a:prstGeom>
          <a:noFill/>
          <a:ln w="25400">
            <a:solidFill>
              <a:srgbClr val="2ECC71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2573000" y="3873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700000" y="3937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B attaches playbook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160500" y="4508500"/>
            <a:ext cx="0" cy="508000"/>
          </a:xfrm>
          <a:prstGeom prst="straightConnector1">
            <a:avLst/>
          </a:prstGeom>
          <a:noFill/>
          <a:ln w="25400">
            <a:solidFill>
              <a:srgbClr val="2ECC71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25730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700000" y="5080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follows proven path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2573000" y="6032500"/>
            <a:ext cx="3175000" cy="1016000"/>
          </a:xfrm>
          <a:prstGeom prst="roundRect">
            <a:avLst>
              <a:gd name="adj" fmla="val 8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700000" y="6096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ACUs</a:t>
            </a:r>
            <a:endParaRPr lang="en-US" sz="32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used (vs 8 for you)</a:t>
            </a:r>
            <a:endParaRPr lang="en-US" sz="32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75% savings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762000" y="3556000"/>
            <a:ext cx="7366000" cy="1524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950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5629" y="51911"/>
                </a:moveTo>
                <a:cubicBezTo>
                  <a:pt x="170497" y="47565"/>
                  <a:pt x="173567" y="40838"/>
                  <a:pt x="173567" y="33338"/>
                </a:cubicBezTo>
                <a:cubicBezTo>
                  <a:pt x="173567" y="20181"/>
                  <a:pt x="164095" y="9525"/>
                  <a:pt x="152400" y="9525"/>
                </a:cubicBezTo>
                <a:cubicBezTo>
                  <a:pt x="140705" y="9525"/>
                  <a:pt x="131233" y="20181"/>
                  <a:pt x="131233" y="33338"/>
                </a:cubicBezTo>
                <a:cubicBezTo>
                  <a:pt x="131233" y="40838"/>
                  <a:pt x="134355" y="47565"/>
                  <a:pt x="139171" y="51911"/>
                </a:cubicBezTo>
                <a:lnTo>
                  <a:pt x="102976" y="115967"/>
                </a:lnTo>
                <a:cubicBezTo>
                  <a:pt x="97684" y="125313"/>
                  <a:pt x="86413" y="127635"/>
                  <a:pt x="78528" y="120968"/>
                </a:cubicBezTo>
                <a:lnTo>
                  <a:pt x="47043" y="94476"/>
                </a:lnTo>
                <a:cubicBezTo>
                  <a:pt x="49424" y="90666"/>
                  <a:pt x="50800" y="85963"/>
                  <a:pt x="50800" y="80962"/>
                </a:cubicBezTo>
                <a:cubicBezTo>
                  <a:pt x="50800" y="67806"/>
                  <a:pt x="41328" y="57150"/>
                  <a:pt x="29633" y="57150"/>
                </a:cubicBezTo>
                <a:cubicBezTo>
                  <a:pt x="17939" y="57150"/>
                  <a:pt x="8467" y="67806"/>
                  <a:pt x="8467" y="80962"/>
                </a:cubicBezTo>
                <a:cubicBezTo>
                  <a:pt x="8467" y="93940"/>
                  <a:pt x="17727" y="104537"/>
                  <a:pt x="29210" y="104775"/>
                </a:cubicBezTo>
                <a:lnTo>
                  <a:pt x="46461" y="234255"/>
                </a:lnTo>
                <a:cubicBezTo>
                  <a:pt x="48948" y="252889"/>
                  <a:pt x="63183" y="266700"/>
                  <a:pt x="79957" y="266700"/>
                </a:cubicBezTo>
                <a:lnTo>
                  <a:pt x="224843" y="266700"/>
                </a:lnTo>
                <a:cubicBezTo>
                  <a:pt x="241617" y="266700"/>
                  <a:pt x="255852" y="252889"/>
                  <a:pt x="258339" y="234255"/>
                </a:cubicBezTo>
                <a:lnTo>
                  <a:pt x="275590" y="104775"/>
                </a:lnTo>
                <a:cubicBezTo>
                  <a:pt x="287073" y="104537"/>
                  <a:pt x="296333" y="93940"/>
                  <a:pt x="296333" y="80962"/>
                </a:cubicBezTo>
                <a:cubicBezTo>
                  <a:pt x="296333" y="67806"/>
                  <a:pt x="286861" y="57150"/>
                  <a:pt x="275167" y="57150"/>
                </a:cubicBezTo>
                <a:cubicBezTo>
                  <a:pt x="263472" y="57150"/>
                  <a:pt x="254000" y="67806"/>
                  <a:pt x="254000" y="80962"/>
                </a:cubicBezTo>
                <a:cubicBezTo>
                  <a:pt x="254000" y="85963"/>
                  <a:pt x="255376" y="90666"/>
                  <a:pt x="257757" y="94476"/>
                </a:cubicBezTo>
                <a:lnTo>
                  <a:pt x="226325" y="121027"/>
                </a:lnTo>
                <a:cubicBezTo>
                  <a:pt x="218440" y="127695"/>
                  <a:pt x="207169" y="125373"/>
                  <a:pt x="201877" y="116026"/>
                </a:cubicBezTo>
                <a:lnTo>
                  <a:pt x="165629" y="51911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37" name="Text 35"/>
          <p:cNvSpPr/>
          <p:nvPr/>
        </p:nvSpPr>
        <p:spPr>
          <a:xfrm>
            <a:off x="1498600" y="381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GOLDEN RULE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79500" y="4216400"/>
            <a:ext cx="679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i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"Every research session MUST produce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i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or a Playbook. No exceptions."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62000" y="539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ENFORCEMENT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62000" y="5778500"/>
            <a:ext cx="736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 to your team's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 of Done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Devin sessions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Sprint retro question: </a:t>
            </a:r>
            <a:pPr algn="l">
              <a:lnSpc>
                <a:spcPct val="155000"/>
              </a:lnSpc>
            </a:pPr>
            <a:r>
              <a:rPr lang="en-US" sz="1400" i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"What Knowledge did we create this sprint?"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Track: Knowledge items per developer per week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GITHUB COPILOT ALONGSIDE DEVIN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0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B: COPILOT INTEGRATION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REALITY CHECK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46990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2387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YOU HAVE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27686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web access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GitHub Copilot in your IDE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Devin CLI (no /handoff)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Devin IDE extension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78500" y="2222500"/>
            <a:ext cx="46990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2500" y="2387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TRUTH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2500" y="27686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There is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direct integration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between Copilot and Devin.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are separate products from separate companies.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native handoff. No shared context.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95000" y="2222500"/>
            <a:ext cx="46990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490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71238" y="266700"/>
                </a:moveTo>
                <a:cubicBezTo>
                  <a:pt x="277998" y="251212"/>
                  <a:pt x="291518" y="237182"/>
                  <a:pt x="306798" y="225098"/>
                </a:cubicBezTo>
                <a:cubicBezTo>
                  <a:pt x="337079" y="201206"/>
                  <a:pt x="355600" y="168910"/>
                  <a:pt x="355600" y="133350"/>
                </a:cubicBezTo>
                <a:cubicBezTo>
                  <a:pt x="355600" y="59730"/>
                  <a:pt x="275960" y="0"/>
                  <a:pt x="177800" y="0"/>
                </a:cubicBezTo>
                <a:cubicBezTo>
                  <a:pt x="79640" y="0"/>
                  <a:pt x="0" y="59730"/>
                  <a:pt x="0" y="133350"/>
                </a:cubicBezTo>
                <a:cubicBezTo>
                  <a:pt x="0" y="168910"/>
                  <a:pt x="18521" y="201206"/>
                  <a:pt x="48802" y="225098"/>
                </a:cubicBezTo>
                <a:cubicBezTo>
                  <a:pt x="64082" y="237182"/>
                  <a:pt x="77695" y="251212"/>
                  <a:pt x="84362" y="266700"/>
                </a:cubicBezTo>
                <a:lnTo>
                  <a:pt x="271145" y="266700"/>
                </a:lnTo>
                <a:close/>
                <a:moveTo>
                  <a:pt x="266700" y="300038"/>
                </a:moveTo>
                <a:lnTo>
                  <a:pt x="88900" y="300038"/>
                </a:lnTo>
                <a:lnTo>
                  <a:pt x="88900" y="311150"/>
                </a:lnTo>
                <a:cubicBezTo>
                  <a:pt x="88900" y="341848"/>
                  <a:pt x="122052" y="366712"/>
                  <a:pt x="162983" y="366712"/>
                </a:cubicBezTo>
                <a:lnTo>
                  <a:pt x="192617" y="366712"/>
                </a:lnTo>
                <a:cubicBezTo>
                  <a:pt x="233548" y="366712"/>
                  <a:pt x="266700" y="341848"/>
                  <a:pt x="266700" y="311150"/>
                </a:cubicBezTo>
                <a:lnTo>
                  <a:pt x="266700" y="300038"/>
                </a:lnTo>
                <a:close/>
                <a:moveTo>
                  <a:pt x="170392" y="77788"/>
                </a:moveTo>
                <a:cubicBezTo>
                  <a:pt x="133535" y="77788"/>
                  <a:pt x="103717" y="100151"/>
                  <a:pt x="103717" y="127794"/>
                </a:cubicBezTo>
                <a:cubicBezTo>
                  <a:pt x="103717" y="137031"/>
                  <a:pt x="93808" y="144463"/>
                  <a:pt x="81492" y="144463"/>
                </a:cubicBezTo>
                <a:cubicBezTo>
                  <a:pt x="69175" y="144463"/>
                  <a:pt x="59267" y="137031"/>
                  <a:pt x="59267" y="127794"/>
                </a:cubicBezTo>
                <a:cubicBezTo>
                  <a:pt x="59267" y="81746"/>
                  <a:pt x="108995" y="44450"/>
                  <a:pt x="170392" y="44450"/>
                </a:cubicBezTo>
                <a:cubicBezTo>
                  <a:pt x="182708" y="44450"/>
                  <a:pt x="192617" y="51881"/>
                  <a:pt x="192617" y="61119"/>
                </a:cubicBezTo>
                <a:cubicBezTo>
                  <a:pt x="192617" y="70356"/>
                  <a:pt x="182708" y="77788"/>
                  <a:pt x="170392" y="77788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11531600" y="2413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49000" y="28575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can still build a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powerful hybrid workflow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each tool for what it does best: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Copilot for speed (FREE)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Devin for depth (PAID)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5143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1073" y="-13127"/>
                </a:moveTo>
                <a:cubicBezTo>
                  <a:pt x="188542" y="-18683"/>
                  <a:pt x="183418" y="-22225"/>
                  <a:pt x="177862" y="-22225"/>
                </a:cubicBezTo>
                <a:cubicBezTo>
                  <a:pt x="172305" y="-22225"/>
                  <a:pt x="167181" y="-18683"/>
                  <a:pt x="164650" y="-13127"/>
                </a:cubicBezTo>
                <a:lnTo>
                  <a:pt x="119212" y="87025"/>
                </a:lnTo>
                <a:lnTo>
                  <a:pt x="20496" y="104666"/>
                </a:lnTo>
                <a:cubicBezTo>
                  <a:pt x="15002" y="105638"/>
                  <a:pt x="10433" y="110014"/>
                  <a:pt x="8705" y="115987"/>
                </a:cubicBezTo>
                <a:cubicBezTo>
                  <a:pt x="6976" y="121960"/>
                  <a:pt x="8396" y="128488"/>
                  <a:pt x="12285" y="132933"/>
                </a:cubicBezTo>
                <a:lnTo>
                  <a:pt x="82912" y="212457"/>
                </a:lnTo>
                <a:lnTo>
                  <a:pt x="67354" y="323513"/>
                </a:lnTo>
                <a:cubicBezTo>
                  <a:pt x="66490" y="329694"/>
                  <a:pt x="68774" y="335945"/>
                  <a:pt x="73281" y="339626"/>
                </a:cubicBezTo>
                <a:cubicBezTo>
                  <a:pt x="77788" y="343307"/>
                  <a:pt x="83714" y="343862"/>
                  <a:pt x="88715" y="341015"/>
                </a:cubicBezTo>
                <a:lnTo>
                  <a:pt x="177862" y="290036"/>
                </a:lnTo>
                <a:lnTo>
                  <a:pt x="266947" y="341015"/>
                </a:lnTo>
                <a:cubicBezTo>
                  <a:pt x="271886" y="343862"/>
                  <a:pt x="277874" y="343307"/>
                  <a:pt x="282381" y="339626"/>
                </a:cubicBezTo>
                <a:cubicBezTo>
                  <a:pt x="286888" y="335945"/>
                  <a:pt x="289172" y="329763"/>
                  <a:pt x="288308" y="323513"/>
                </a:cubicBezTo>
                <a:lnTo>
                  <a:pt x="272688" y="212457"/>
                </a:lnTo>
                <a:lnTo>
                  <a:pt x="343315" y="132933"/>
                </a:lnTo>
                <a:cubicBezTo>
                  <a:pt x="347266" y="128488"/>
                  <a:pt x="348624" y="121960"/>
                  <a:pt x="346895" y="115987"/>
                </a:cubicBezTo>
                <a:cubicBezTo>
                  <a:pt x="345167" y="110014"/>
                  <a:pt x="340660" y="105638"/>
                  <a:pt x="335104" y="104666"/>
                </a:cubicBezTo>
                <a:lnTo>
                  <a:pt x="236449" y="87025"/>
                </a:lnTo>
                <a:lnTo>
                  <a:pt x="191073" y="-13127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15621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HYBRID PRINCIPLE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5842000"/>
            <a:ext cx="140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 for SPEED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(exploration, drafting, quick fixes) →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for DEPTH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(execution, testing, PRs)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6731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5-PHASE HYBRID WORKFLOW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2000" y="7112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Local Exploration with Copilot (FREE)  → 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Decision Point (Copilot vs Devin)  → 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Structured Prompt Transfer  → 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Branch Handoff  → 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Knowledge Bridge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LOCAL EXPLORATION WITH COPILOT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06500"/>
            <a:ext cx="2032000" cy="381000"/>
          </a:xfrm>
          <a:prstGeom prst="roundRect">
            <a:avLst>
              <a:gd name="adj" fmla="val 12000"/>
            </a:avLst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— $0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COPILOT EXCELS 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184400"/>
            <a:ext cx="685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Inline code suggestions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as you type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function implementations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 refactors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(rename, extract method)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Explaining code blocks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Generating unit tests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single functions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Chat-based Q&amp;A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about your codebase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4889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TO 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2959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Open IDE with Copilot enabled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Copilot Chat to explore: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is the payment service timing out?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 me where JWT validation happens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Copilot inline to draft quick fixes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@workspace to search across codebase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09000" y="1778000"/>
            <a:ext cx="6985000" cy="127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3000" y="1930400"/>
            <a:ext cx="647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Copilot subscription covers this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763000" y="25146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Time: 10-15 minutes of exploration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509000" y="3302000"/>
            <a:ext cx="69850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63000" y="3454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63000" y="3835400"/>
            <a:ext cx="647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Understanding of the issue and root cause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Draft code for the fix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List of files that need changes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Clear implementation plan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becomes the input for Phase 2 (Devin)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9000" y="6096000"/>
            <a:ext cx="6985000" cy="6350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6159500"/>
            <a:ext cx="647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NEXT: PHASE 2 — DECISION POINT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DECISION POINT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 or Devin? — Clear decision criteria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7048500" cy="4699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95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1625600" y="1879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COPILOT WHEN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4384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— Stay in 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9500" y="2857500"/>
            <a:ext cx="6477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fix is in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1-3 files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 know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exactly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what needs to change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It's a pattern you've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done before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 want to stay in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 state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Time estimate: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30 minutes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 Bug fixes, small refactors,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adding a field, updating tests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45500" y="1651000"/>
            <a:ext cx="7048500" cy="4699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63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520" y="0"/>
                </a:moveTo>
                <a:cubicBezTo>
                  <a:pt x="223520" y="-14049"/>
                  <a:pt x="214440" y="-25400"/>
                  <a:pt x="203200" y="-25400"/>
                </a:cubicBezTo>
                <a:cubicBezTo>
                  <a:pt x="191961" y="-25400"/>
                  <a:pt x="182880" y="-14049"/>
                  <a:pt x="182880" y="0"/>
                </a:cubicBezTo>
                <a:lnTo>
                  <a:pt x="182880" y="50800"/>
                </a:lnTo>
                <a:lnTo>
                  <a:pt x="121920" y="50800"/>
                </a:lnTo>
                <a:cubicBezTo>
                  <a:pt x="88265" y="50800"/>
                  <a:pt x="60960" y="84931"/>
                  <a:pt x="60960" y="127000"/>
                </a:cubicBezTo>
                <a:lnTo>
                  <a:pt x="60960" y="304800"/>
                </a:lnTo>
                <a:cubicBezTo>
                  <a:pt x="60960" y="346869"/>
                  <a:pt x="88265" y="381000"/>
                  <a:pt x="121920" y="381000"/>
                </a:cubicBezTo>
                <a:lnTo>
                  <a:pt x="284480" y="381000"/>
                </a:lnTo>
                <a:cubicBezTo>
                  <a:pt x="318135" y="381000"/>
                  <a:pt x="345440" y="346869"/>
                  <a:pt x="345440" y="304800"/>
                </a:cubicBezTo>
                <a:lnTo>
                  <a:pt x="345440" y="127000"/>
                </a:lnTo>
                <a:cubicBezTo>
                  <a:pt x="345440" y="84931"/>
                  <a:pt x="318135" y="50800"/>
                  <a:pt x="284480" y="50800"/>
                </a:cubicBezTo>
                <a:lnTo>
                  <a:pt x="223520" y="50800"/>
                </a:lnTo>
                <a:lnTo>
                  <a:pt x="223520" y="0"/>
                </a:lnTo>
                <a:close/>
                <a:moveTo>
                  <a:pt x="101600" y="292100"/>
                </a:moveTo>
                <a:cubicBezTo>
                  <a:pt x="101600" y="281543"/>
                  <a:pt x="108394" y="273050"/>
                  <a:pt x="116840" y="273050"/>
                </a:cubicBezTo>
                <a:lnTo>
                  <a:pt x="137160" y="273050"/>
                </a:lnTo>
                <a:cubicBezTo>
                  <a:pt x="145606" y="273050"/>
                  <a:pt x="152400" y="281543"/>
                  <a:pt x="152400" y="292100"/>
                </a:cubicBezTo>
                <a:cubicBezTo>
                  <a:pt x="152400" y="302657"/>
                  <a:pt x="145606" y="311150"/>
                  <a:pt x="137160" y="311150"/>
                </a:cubicBezTo>
                <a:lnTo>
                  <a:pt x="116840" y="311150"/>
                </a:lnTo>
                <a:cubicBezTo>
                  <a:pt x="108394" y="311150"/>
                  <a:pt x="101600" y="302657"/>
                  <a:pt x="101600" y="292100"/>
                </a:cubicBezTo>
                <a:close/>
                <a:moveTo>
                  <a:pt x="177800" y="292100"/>
                </a:moveTo>
                <a:cubicBezTo>
                  <a:pt x="177800" y="281543"/>
                  <a:pt x="184595" y="273050"/>
                  <a:pt x="193040" y="273050"/>
                </a:cubicBezTo>
                <a:lnTo>
                  <a:pt x="213360" y="273050"/>
                </a:lnTo>
                <a:cubicBezTo>
                  <a:pt x="221806" y="273050"/>
                  <a:pt x="228600" y="281543"/>
                  <a:pt x="228600" y="292100"/>
                </a:cubicBezTo>
                <a:cubicBezTo>
                  <a:pt x="228600" y="302657"/>
                  <a:pt x="221806" y="311150"/>
                  <a:pt x="213360" y="311150"/>
                </a:cubicBezTo>
                <a:lnTo>
                  <a:pt x="193040" y="311150"/>
                </a:lnTo>
                <a:cubicBezTo>
                  <a:pt x="184595" y="311150"/>
                  <a:pt x="177800" y="302657"/>
                  <a:pt x="177800" y="292100"/>
                </a:cubicBezTo>
                <a:close/>
                <a:moveTo>
                  <a:pt x="254000" y="292100"/>
                </a:moveTo>
                <a:cubicBezTo>
                  <a:pt x="254000" y="281543"/>
                  <a:pt x="260795" y="273050"/>
                  <a:pt x="269240" y="273050"/>
                </a:cubicBezTo>
                <a:lnTo>
                  <a:pt x="289560" y="273050"/>
                </a:lnTo>
                <a:cubicBezTo>
                  <a:pt x="298006" y="273050"/>
                  <a:pt x="304800" y="281543"/>
                  <a:pt x="304800" y="292100"/>
                </a:cubicBezTo>
                <a:cubicBezTo>
                  <a:pt x="304800" y="302657"/>
                  <a:pt x="298006" y="311150"/>
                  <a:pt x="289560" y="311150"/>
                </a:cubicBezTo>
                <a:lnTo>
                  <a:pt x="269240" y="311150"/>
                </a:lnTo>
                <a:cubicBezTo>
                  <a:pt x="260795" y="311150"/>
                  <a:pt x="254000" y="302657"/>
                  <a:pt x="254000" y="292100"/>
                </a:cubicBezTo>
                <a:close/>
                <a:moveTo>
                  <a:pt x="142240" y="139700"/>
                </a:moveTo>
                <a:cubicBezTo>
                  <a:pt x="159062" y="139700"/>
                  <a:pt x="172720" y="156772"/>
                  <a:pt x="172720" y="177800"/>
                </a:cubicBezTo>
                <a:cubicBezTo>
                  <a:pt x="172720" y="198828"/>
                  <a:pt x="159062" y="215900"/>
                  <a:pt x="142240" y="215900"/>
                </a:cubicBezTo>
                <a:cubicBezTo>
                  <a:pt x="125418" y="215900"/>
                  <a:pt x="111760" y="198828"/>
                  <a:pt x="111760" y="177800"/>
                </a:cubicBezTo>
                <a:cubicBezTo>
                  <a:pt x="111760" y="156772"/>
                  <a:pt x="125418" y="139700"/>
                  <a:pt x="142240" y="139700"/>
                </a:cubicBezTo>
                <a:close/>
                <a:moveTo>
                  <a:pt x="233680" y="177800"/>
                </a:moveTo>
                <a:cubicBezTo>
                  <a:pt x="233680" y="156772"/>
                  <a:pt x="247338" y="139700"/>
                  <a:pt x="264160" y="139700"/>
                </a:cubicBezTo>
                <a:cubicBezTo>
                  <a:pt x="280982" y="139700"/>
                  <a:pt x="294640" y="156772"/>
                  <a:pt x="294640" y="177800"/>
                </a:cubicBezTo>
                <a:cubicBezTo>
                  <a:pt x="294640" y="198828"/>
                  <a:pt x="280982" y="215900"/>
                  <a:pt x="264160" y="215900"/>
                </a:cubicBezTo>
                <a:cubicBezTo>
                  <a:pt x="247338" y="215900"/>
                  <a:pt x="233680" y="198828"/>
                  <a:pt x="233680" y="177800"/>
                </a:cubicBezTo>
                <a:close/>
                <a:moveTo>
                  <a:pt x="40640" y="177800"/>
                </a:moveTo>
                <a:cubicBezTo>
                  <a:pt x="40640" y="163751"/>
                  <a:pt x="31560" y="152400"/>
                  <a:pt x="20320" y="152400"/>
                </a:cubicBezTo>
                <a:cubicBezTo>
                  <a:pt x="9080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9081" y="279400"/>
                  <a:pt x="20320" y="279400"/>
                </a:cubicBezTo>
                <a:cubicBezTo>
                  <a:pt x="31560" y="279400"/>
                  <a:pt x="40640" y="268049"/>
                  <a:pt x="40640" y="254000"/>
                </a:cubicBezTo>
                <a:lnTo>
                  <a:pt x="40640" y="177800"/>
                </a:lnTo>
                <a:close/>
                <a:moveTo>
                  <a:pt x="386080" y="152400"/>
                </a:moveTo>
                <a:cubicBezTo>
                  <a:pt x="374841" y="152400"/>
                  <a:pt x="365760" y="163751"/>
                  <a:pt x="365760" y="177800"/>
                </a:cubicBezTo>
                <a:lnTo>
                  <a:pt x="365760" y="254000"/>
                </a:lnTo>
                <a:cubicBezTo>
                  <a:pt x="365760" y="268049"/>
                  <a:pt x="374841" y="279400"/>
                  <a:pt x="386080" y="279400"/>
                </a:cubicBezTo>
                <a:cubicBezTo>
                  <a:pt x="397320" y="279400"/>
                  <a:pt x="406400" y="268049"/>
                  <a:pt x="406400" y="2540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close/>
              </a:path>
            </a:pathLst>
          </a:custGeom>
          <a:solidFill>
            <a:srgbClr val="3498DB"/>
          </a:solidFill>
          <a:ln/>
        </p:spPr>
      </p:sp>
      <p:sp>
        <p:nvSpPr>
          <p:cNvPr id="12" name="Text 10"/>
          <p:cNvSpPr/>
          <p:nvPr/>
        </p:nvSpPr>
        <p:spPr>
          <a:xfrm>
            <a:off x="9309100" y="1879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DEVIN WHEN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24384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PAID — Delegate &amp; walk away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63000" y="2857500"/>
            <a:ext cx="6477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task spans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3+ files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 need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and investigation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 need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tests, lint, and PR creation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 want to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delegate and walk away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Time estimate: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30 minutes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You need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 automation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 Features, migrations, complex bugs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0" y="6604000"/>
            <a:ext cx="2540000" cy="1016000"/>
          </a:xfrm>
          <a:prstGeom prst="diamond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175500" y="68580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7048500"/>
            <a:ext cx="2286000" cy="0"/>
          </a:xfrm>
          <a:prstGeom prst="straightConnector1">
            <a:avLst/>
          </a:prstGeom>
          <a:noFill/>
          <a:ln w="25400">
            <a:solidFill>
              <a:srgbClr val="2ECC71"/>
            </a:solidFill>
            <a:prstDash val="solid"/>
            <a:headEnd type="arrow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98000" y="7048500"/>
            <a:ext cx="2286000" cy="0"/>
          </a:xfrm>
          <a:prstGeom prst="straightConnector1">
            <a:avLst/>
          </a:prstGeom>
          <a:noFill/>
          <a:ln w="25400">
            <a:solidFill>
              <a:srgbClr val="3498DB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STRUCTURED PROMPT TRANSFER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Since you don't have CLI handoff — copy Copilot's analysis into Devin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1143000" cy="355600"/>
          </a:xfrm>
          <a:prstGeom prst="roundRect">
            <a:avLst>
              <a:gd name="adj" fmla="val 12000"/>
            </a:avLst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25600"/>
            <a:ext cx="114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32000" y="1625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COPILOT CHAT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57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Summarize the issue, root cause, and proposed fix for the payment timeout bug.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 it as a structured implementation plan.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946400"/>
            <a:ext cx="1143000" cy="355600"/>
          </a:xfrm>
          <a:prstGeom prst="roundRect">
            <a:avLst>
              <a:gd name="adj" fmla="val 12000"/>
            </a:avLst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946400"/>
            <a:ext cx="114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32000" y="294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 GENERATES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3378200"/>
            <a:ext cx="7048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##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Issue Summary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service times out after 30s on Stripe webhook</a:t>
            </a:r>
            <a:endParaRPr lang="en-US" sz="1100" dirty="0"/>
          </a:p>
          <a:p>
            <a:pPr algn="l">
              <a:lnSpc>
                <a:spcPct val="140000"/>
              </a:lnSpc>
            </a:pP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##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Cause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Webhook handler doesn't use async processing</a:t>
            </a:r>
            <a:endParaRPr lang="en-US" sz="1100" dirty="0"/>
          </a:p>
          <a:p>
            <a:pPr algn="l">
              <a:lnSpc>
                <a:spcPct val="140000"/>
              </a:lnSpc>
            </a:pP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##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Fix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Make webhook handler async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Add background job queue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Update tests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2000" y="5397500"/>
            <a:ext cx="1143000" cy="3556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397500"/>
            <a:ext cx="114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2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 INTO DEVIN WEB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2000" y="5829300"/>
            <a:ext cx="7048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Fix payment timeout by making Stripe webhook async</a:t>
            </a:r>
            <a:endParaRPr lang="en-US" sz="1100" dirty="0"/>
          </a:p>
          <a:p>
            <a:pPr algn="l">
              <a:lnSpc>
                <a:spcPct val="140000"/>
              </a:lnSpc>
            </a:pP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[Paste Copilot's analysis here]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Repo: github.com/acme/acme-web</a:t>
            </a:r>
            <a:endParaRPr lang="en-US" sz="1100" dirty="0"/>
          </a:p>
          <a:p>
            <a:pPr algn="l">
              <a:lnSpc>
                <a:spcPct val="140000"/>
              </a:lnSpc>
            </a:pP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ACCEPTANCE CRITERIA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[Paste from Copilot's plan]</a:t>
            </a:r>
            <a:endParaRPr lang="en-US" sz="1100" dirty="0"/>
          </a:p>
          <a:p>
            <a:pPr algn="l">
              <a:lnSpc>
                <a:spcPct val="140000"/>
              </a:lnSpc>
            </a:pP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In: [files] | Out: other handlers, schema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45500" y="2946400"/>
            <a:ext cx="7048500" cy="54229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63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9182100" y="317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YOU JUST DID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63000" y="3619500"/>
            <a:ext cx="6477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 Copilot for </a:t>
            </a:r>
            <a:pPr algn="l">
              <a:lnSpc>
                <a:spcPct val="155000"/>
              </a:lnSpc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exploration and planning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0 ACUs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 Devin for 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PR creation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3-5 ACUs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savings: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5-10 ACUs vs letting Devin do research</a:t>
            </a:r>
            <a:endParaRPr lang="en-US" sz="14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pattern: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Copilot thinks → You review →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Devin executes → PR ready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ACU MATH: COPILOT + DEVIN vs DEVIN ALONE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065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Scenario: Implement a new API endpoint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7048500" cy="3683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9500" y="193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1930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ALONE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" y="2438400"/>
            <a:ext cx="647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a user profile endpoint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  <a:p>
            <a:pPr algn="l">
              <a:lnSpc>
                <a:spcPct val="150000"/>
              </a:lnSpc>
            </a:pP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Devin researches codebase: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ACUs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Devin plans implementation: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ACU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Devin implements:          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ACUs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Devin writes tests:        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ACUs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Devin opens PR:            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 ACU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9500" y="457200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8.5 ACUs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($17-19)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8445500" y="1714500"/>
            <a:ext cx="7048500" cy="3683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63000" y="193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6008" y="59174"/>
                </a:moveTo>
                <a:lnTo>
                  <a:pt x="94024" y="149185"/>
                </a:lnTo>
                <a:cubicBezTo>
                  <a:pt x="91184" y="152727"/>
                  <a:pt x="91308" y="158214"/>
                  <a:pt x="94333" y="161617"/>
                </a:cubicBezTo>
                <a:cubicBezTo>
                  <a:pt x="113162" y="182801"/>
                  <a:pt x="143722" y="182801"/>
                  <a:pt x="162551" y="161617"/>
                </a:cubicBezTo>
                <a:lnTo>
                  <a:pt x="182183" y="139531"/>
                </a:lnTo>
                <a:cubicBezTo>
                  <a:pt x="184776" y="136614"/>
                  <a:pt x="188048" y="135017"/>
                  <a:pt x="191382" y="134739"/>
                </a:cubicBezTo>
                <a:cubicBezTo>
                  <a:pt x="195580" y="134322"/>
                  <a:pt x="199902" y="135920"/>
                  <a:pt x="203112" y="139531"/>
                </a:cubicBezTo>
                <a:lnTo>
                  <a:pt x="312138" y="261144"/>
                </a:lnTo>
                <a:lnTo>
                  <a:pt x="355600" y="222250"/>
                </a:lnTo>
                <a:lnTo>
                  <a:pt x="355600" y="22225"/>
                </a:lnTo>
                <a:lnTo>
                  <a:pt x="286456" y="66675"/>
                </a:lnTo>
                <a:lnTo>
                  <a:pt x="271762" y="55632"/>
                </a:lnTo>
                <a:cubicBezTo>
                  <a:pt x="262008" y="48339"/>
                  <a:pt x="250587" y="44450"/>
                  <a:pt x="238857" y="44450"/>
                </a:cubicBezTo>
                <a:lnTo>
                  <a:pt x="195395" y="44450"/>
                </a:lnTo>
                <a:cubicBezTo>
                  <a:pt x="194716" y="44450"/>
                  <a:pt x="193975" y="44450"/>
                  <a:pt x="193296" y="44519"/>
                </a:cubicBezTo>
                <a:cubicBezTo>
                  <a:pt x="182862" y="45145"/>
                  <a:pt x="173046" y="50423"/>
                  <a:pt x="166008" y="59174"/>
                </a:cubicBezTo>
                <a:close/>
                <a:moveTo>
                  <a:pt x="71984" y="126891"/>
                </a:moveTo>
                <a:lnTo>
                  <a:pt x="137918" y="44450"/>
                </a:lnTo>
                <a:lnTo>
                  <a:pt x="113471" y="44450"/>
                </a:lnTo>
                <a:cubicBezTo>
                  <a:pt x="97728" y="44450"/>
                  <a:pt x="82665" y="51465"/>
                  <a:pt x="71552" y="63966"/>
                </a:cubicBezTo>
                <a:lnTo>
                  <a:pt x="69144" y="66675"/>
                </a:lnTo>
                <a:lnTo>
                  <a:pt x="0" y="22225"/>
                </a:lnTo>
                <a:lnTo>
                  <a:pt x="0" y="222250"/>
                </a:lnTo>
                <a:lnTo>
                  <a:pt x="96555" y="312747"/>
                </a:lnTo>
                <a:cubicBezTo>
                  <a:pt x="110755" y="326082"/>
                  <a:pt x="128658" y="333375"/>
                  <a:pt x="147117" y="333375"/>
                </a:cubicBezTo>
                <a:lnTo>
                  <a:pt x="156810" y="333375"/>
                </a:lnTo>
                <a:lnTo>
                  <a:pt x="152488" y="328513"/>
                </a:lnTo>
                <a:cubicBezTo>
                  <a:pt x="146685" y="321985"/>
                  <a:pt x="146685" y="311428"/>
                  <a:pt x="152488" y="304969"/>
                </a:cubicBezTo>
                <a:cubicBezTo>
                  <a:pt x="158291" y="298510"/>
                  <a:pt x="167675" y="298440"/>
                  <a:pt x="173417" y="304969"/>
                </a:cubicBezTo>
                <a:lnTo>
                  <a:pt x="198729" y="333444"/>
                </a:lnTo>
                <a:lnTo>
                  <a:pt x="204285" y="333444"/>
                </a:lnTo>
                <a:cubicBezTo>
                  <a:pt x="216076" y="333444"/>
                  <a:pt x="227621" y="330458"/>
                  <a:pt x="238116" y="324902"/>
                </a:cubicBezTo>
                <a:lnTo>
                  <a:pt x="221633" y="306288"/>
                </a:lnTo>
                <a:cubicBezTo>
                  <a:pt x="215829" y="299760"/>
                  <a:pt x="215829" y="289203"/>
                  <a:pt x="221633" y="282744"/>
                </a:cubicBezTo>
                <a:cubicBezTo>
                  <a:pt x="227436" y="276285"/>
                  <a:pt x="236820" y="276215"/>
                  <a:pt x="242561" y="282744"/>
                </a:cubicBezTo>
                <a:lnTo>
                  <a:pt x="262317" y="304969"/>
                </a:lnTo>
                <a:lnTo>
                  <a:pt x="273121" y="292814"/>
                </a:lnTo>
                <a:cubicBezTo>
                  <a:pt x="278615" y="286633"/>
                  <a:pt x="280220" y="277674"/>
                  <a:pt x="277813" y="269825"/>
                </a:cubicBezTo>
                <a:lnTo>
                  <a:pt x="192678" y="174814"/>
                </a:lnTo>
                <a:lnTo>
                  <a:pt x="183480" y="185162"/>
                </a:lnTo>
                <a:cubicBezTo>
                  <a:pt x="153044" y="219402"/>
                  <a:pt x="103778" y="219402"/>
                  <a:pt x="73343" y="185162"/>
                </a:cubicBezTo>
                <a:cubicBezTo>
                  <a:pt x="59143" y="169188"/>
                  <a:pt x="58588" y="143560"/>
                  <a:pt x="71984" y="126821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9232900" y="1930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 + DEVIN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63000" y="2438400"/>
            <a:ext cx="647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Copilot: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endpoint following patterns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Copilot suggests inline:    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ACUs</a:t>
            </a:r>
            <a:endParaRPr lang="en-US" sz="1200" dirty="0"/>
          </a:p>
          <a:p>
            <a:pPr algn="l">
              <a:lnSpc>
                <a:spcPct val="150000"/>
              </a:lnSpc>
            </a:pP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You: Refine in IDE with Copilot: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ACUs</a:t>
            </a:r>
            <a:endParaRPr lang="en-US" sz="1200" dirty="0"/>
          </a:p>
          <a:p>
            <a:pPr algn="l">
              <a:lnSpc>
                <a:spcPct val="150000"/>
              </a:lnSpc>
            </a:pP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Devin: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tests, run lint, open PR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Devin tests + lint + PR:    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ACUs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63000" y="457200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ACUs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($4-5)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762000" y="5778500"/>
            <a:ext cx="14732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1E293B">
                  <a:alpha val="50000"/>
                </a:srgbClr>
              </a:gs>
              <a:gs pos="100000">
                <a:srgbClr val="2ECC71">
                  <a:alpha val="13000"/>
                </a:srgbClr>
              </a:gs>
            </a:gsLst>
            <a:lin ang="0" scaled="1"/>
          </a:gra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603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-25400"/>
                </a:moveTo>
                <a:cubicBezTo>
                  <a:pt x="240583" y="-25400"/>
                  <a:pt x="270933" y="8744"/>
                  <a:pt x="270933" y="50800"/>
                </a:cubicBezTo>
                <a:cubicBezTo>
                  <a:pt x="270933" y="92856"/>
                  <a:pt x="240583" y="127000"/>
                  <a:pt x="203200" y="127000"/>
                </a:cubicBezTo>
                <a:cubicBezTo>
                  <a:pt x="165817" y="127000"/>
                  <a:pt x="135467" y="92856"/>
                  <a:pt x="135467" y="50800"/>
                </a:cubicBezTo>
                <a:cubicBezTo>
                  <a:pt x="135467" y="8744"/>
                  <a:pt x="165817" y="-25400"/>
                  <a:pt x="203200" y="-25400"/>
                </a:cubicBezTo>
                <a:close/>
                <a:moveTo>
                  <a:pt x="33867" y="241300"/>
                </a:moveTo>
                <a:cubicBezTo>
                  <a:pt x="33867" y="185658"/>
                  <a:pt x="67028" y="137001"/>
                  <a:pt x="116487" y="110411"/>
                </a:cubicBezTo>
                <a:cubicBezTo>
                  <a:pt x="134338" y="143192"/>
                  <a:pt x="166511" y="165100"/>
                  <a:pt x="203200" y="165100"/>
                </a:cubicBezTo>
                <a:cubicBezTo>
                  <a:pt x="242499" y="165100"/>
                  <a:pt x="276648" y="139938"/>
                  <a:pt x="293511" y="103188"/>
                </a:cubicBezTo>
                <a:cubicBezTo>
                  <a:pt x="304659" y="94218"/>
                  <a:pt x="318276" y="88900"/>
                  <a:pt x="333022" y="88900"/>
                </a:cubicBezTo>
                <a:lnTo>
                  <a:pt x="346781" y="88900"/>
                </a:lnTo>
                <a:cubicBezTo>
                  <a:pt x="354118" y="88900"/>
                  <a:pt x="359481" y="96679"/>
                  <a:pt x="357717" y="104696"/>
                </a:cubicBezTo>
                <a:lnTo>
                  <a:pt x="345652" y="158909"/>
                </a:lnTo>
                <a:cubicBezTo>
                  <a:pt x="352637" y="168751"/>
                  <a:pt x="358493" y="179308"/>
                  <a:pt x="362867" y="190500"/>
                </a:cubicBezTo>
                <a:lnTo>
                  <a:pt x="378178" y="190500"/>
                </a:lnTo>
                <a:cubicBezTo>
                  <a:pt x="387562" y="190500"/>
                  <a:pt x="395111" y="198993"/>
                  <a:pt x="395111" y="209550"/>
                </a:cubicBezTo>
                <a:lnTo>
                  <a:pt x="395111" y="298450"/>
                </a:lnTo>
                <a:cubicBezTo>
                  <a:pt x="395111" y="309007"/>
                  <a:pt x="387562" y="317500"/>
                  <a:pt x="378178" y="317500"/>
                </a:cubicBezTo>
                <a:lnTo>
                  <a:pt x="349956" y="317500"/>
                </a:lnTo>
                <a:cubicBezTo>
                  <a:pt x="338314" y="334963"/>
                  <a:pt x="322792" y="348933"/>
                  <a:pt x="304800" y="357743"/>
                </a:cubicBezTo>
                <a:lnTo>
                  <a:pt x="304800" y="381000"/>
                </a:lnTo>
                <a:cubicBezTo>
                  <a:pt x="304800" y="395049"/>
                  <a:pt x="294711" y="406400"/>
                  <a:pt x="282222" y="406400"/>
                </a:cubicBezTo>
                <a:lnTo>
                  <a:pt x="258939" y="406400"/>
                </a:lnTo>
                <a:cubicBezTo>
                  <a:pt x="248849" y="406400"/>
                  <a:pt x="240030" y="398859"/>
                  <a:pt x="237208" y="387985"/>
                </a:cubicBezTo>
                <a:lnTo>
                  <a:pt x="232198" y="368300"/>
                </a:lnTo>
                <a:lnTo>
                  <a:pt x="174131" y="368300"/>
                </a:lnTo>
                <a:lnTo>
                  <a:pt x="169122" y="387985"/>
                </a:lnTo>
                <a:cubicBezTo>
                  <a:pt x="166370" y="398859"/>
                  <a:pt x="157551" y="406400"/>
                  <a:pt x="147461" y="406400"/>
                </a:cubicBezTo>
                <a:lnTo>
                  <a:pt x="124178" y="406400"/>
                </a:lnTo>
                <a:cubicBezTo>
                  <a:pt x="111689" y="406400"/>
                  <a:pt x="101600" y="395049"/>
                  <a:pt x="101600" y="381000"/>
                </a:cubicBezTo>
                <a:lnTo>
                  <a:pt x="101600" y="357743"/>
                </a:lnTo>
                <a:cubicBezTo>
                  <a:pt x="61736" y="338138"/>
                  <a:pt x="33867" y="293370"/>
                  <a:pt x="33867" y="241300"/>
                </a:cubicBezTo>
                <a:close/>
                <a:moveTo>
                  <a:pt x="299156" y="254000"/>
                </a:moveTo>
                <a:cubicBezTo>
                  <a:pt x="308501" y="254000"/>
                  <a:pt x="316089" y="245464"/>
                  <a:pt x="316089" y="234950"/>
                </a:cubicBezTo>
                <a:cubicBezTo>
                  <a:pt x="316089" y="224436"/>
                  <a:pt x="308501" y="215900"/>
                  <a:pt x="299156" y="215900"/>
                </a:cubicBezTo>
                <a:cubicBezTo>
                  <a:pt x="289810" y="215900"/>
                  <a:pt x="282222" y="224436"/>
                  <a:pt x="282222" y="234950"/>
                </a:cubicBezTo>
                <a:cubicBezTo>
                  <a:pt x="282222" y="245464"/>
                  <a:pt x="289810" y="254000"/>
                  <a:pt x="299156" y="254000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1714500" y="59690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Savings: 6.5 ACUs = $13-14 per task</a:t>
            </a:r>
            <a:endParaRPr lang="en-US" sz="2200" dirty="0"/>
          </a:p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 10 tasks/week = </a:t>
            </a:r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 ACUs saved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</a:t>
            </a:r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$130-140/week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 </a:t>
            </a:r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2ECC7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$520-560/month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4: THE BRANCH HANDOFF TECHNIQUE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complex tasks: Copilot drafts, Devin finishes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1778000" cy="355600"/>
          </a:xfrm>
          <a:prstGeom prst="roundRect">
            <a:avLst>
              <a:gd name="adj" fmla="val 12000"/>
            </a:avLst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256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 IN 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2057400"/>
            <a:ext cx="7048500" cy="1778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2184400"/>
            <a:ext cx="654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git checkout -b wip/payment-fix-copilot-draft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Write code with Copilot suggestions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git add .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git commit -m 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"wip: draft payment fix"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git push origin wip/payment-fix-copilot-draft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4064000"/>
            <a:ext cx="2286000" cy="3556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4064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 IN DEVIN WEB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4495800"/>
            <a:ext cx="7048500" cy="2159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4622800"/>
            <a:ext cx="654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Complete the payment fix. Draft is in branch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wip/payment-fix-copilot-draft. Please: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1. Review the draft implementation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2. Add missing error handling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3. Write comprehensive tests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4. Run lint and typecheck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5. Open a PR against develop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45500" y="1625600"/>
            <a:ext cx="7048500" cy="50292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63000" y="187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1073" y="-13127"/>
                </a:moveTo>
                <a:cubicBezTo>
                  <a:pt x="188542" y="-18683"/>
                  <a:pt x="183418" y="-22225"/>
                  <a:pt x="177862" y="-22225"/>
                </a:cubicBezTo>
                <a:cubicBezTo>
                  <a:pt x="172305" y="-22225"/>
                  <a:pt x="167181" y="-18683"/>
                  <a:pt x="164650" y="-13127"/>
                </a:cubicBezTo>
                <a:lnTo>
                  <a:pt x="119212" y="87025"/>
                </a:lnTo>
                <a:lnTo>
                  <a:pt x="20496" y="104666"/>
                </a:lnTo>
                <a:cubicBezTo>
                  <a:pt x="15002" y="105638"/>
                  <a:pt x="10433" y="110014"/>
                  <a:pt x="8705" y="115987"/>
                </a:cubicBezTo>
                <a:cubicBezTo>
                  <a:pt x="6976" y="121960"/>
                  <a:pt x="8396" y="128488"/>
                  <a:pt x="12285" y="132933"/>
                </a:cubicBezTo>
                <a:lnTo>
                  <a:pt x="82912" y="212457"/>
                </a:lnTo>
                <a:lnTo>
                  <a:pt x="67354" y="323513"/>
                </a:lnTo>
                <a:cubicBezTo>
                  <a:pt x="66490" y="329694"/>
                  <a:pt x="68774" y="335945"/>
                  <a:pt x="73281" y="339626"/>
                </a:cubicBezTo>
                <a:cubicBezTo>
                  <a:pt x="77788" y="343307"/>
                  <a:pt x="83714" y="343862"/>
                  <a:pt x="88715" y="341015"/>
                </a:cubicBezTo>
                <a:lnTo>
                  <a:pt x="177862" y="290036"/>
                </a:lnTo>
                <a:lnTo>
                  <a:pt x="266947" y="341015"/>
                </a:lnTo>
                <a:cubicBezTo>
                  <a:pt x="271886" y="343862"/>
                  <a:pt x="277874" y="343307"/>
                  <a:pt x="282381" y="339626"/>
                </a:cubicBezTo>
                <a:cubicBezTo>
                  <a:pt x="286888" y="335945"/>
                  <a:pt x="289172" y="329763"/>
                  <a:pt x="288308" y="323513"/>
                </a:cubicBezTo>
                <a:lnTo>
                  <a:pt x="272688" y="212457"/>
                </a:lnTo>
                <a:lnTo>
                  <a:pt x="343315" y="132933"/>
                </a:lnTo>
                <a:cubicBezTo>
                  <a:pt x="347266" y="128488"/>
                  <a:pt x="348624" y="121960"/>
                  <a:pt x="346895" y="115987"/>
                </a:cubicBezTo>
                <a:cubicBezTo>
                  <a:pt x="345167" y="110014"/>
                  <a:pt x="340660" y="105638"/>
                  <a:pt x="335104" y="104666"/>
                </a:cubicBezTo>
                <a:lnTo>
                  <a:pt x="236449" y="87025"/>
                </a:lnTo>
                <a:lnTo>
                  <a:pt x="191073" y="-13127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9245600" y="1879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63000" y="2413000"/>
            <a:ext cx="647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did the creative work (FREE)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Drafted the initial implementation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did the mechanical work (minimal ACUs)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Tests, lint, typecheck, PR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bridge between them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Branch carries the context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63000" y="4635500"/>
            <a:ext cx="6477000" cy="25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48006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ACU Savings: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Research phase: 2-3 ACUs →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ACUs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Implementation: 3-5 ACUs →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 ACUs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Total: 5-8 ACUs saved per complex task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5: THE KNOWLEDGE BRIDGE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1016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the hybrid pattern in Devin Knowledge for your entire team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8890000" cy="482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78000"/>
            <a:ext cx="8509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Title: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"Copilot → Devin Handoff Pattern"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Trigger: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repo:acme-web AND task:implementation</a:t>
            </a:r>
            <a:endParaRPr lang="en-US" sz="1100" dirty="0"/>
          </a:p>
          <a:p>
            <a:pPr algn="l">
              <a:lnSpc>
                <a:spcPct val="140000"/>
              </a:lnSpc>
            </a:pP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Content: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starting a new implementation task:</a:t>
            </a:r>
            <a:endParaRPr lang="en-US" sz="1100" dirty="0"/>
          </a:p>
          <a:p>
            <a:pPr algn="l">
              <a:lnSpc>
                <a:spcPct val="140000"/>
              </a:lnSpc>
            </a:pP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FIRST use Copilot in IDE to: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Explore the codebase (free)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Draft initial code (free)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Understand existing patterns (free)</a:t>
            </a:r>
            <a:endParaRPr lang="en-US" sz="1100" dirty="0"/>
          </a:p>
          <a:p>
            <a:pPr algn="l">
              <a:lnSpc>
                <a:spcPct val="140000"/>
              </a:lnSpc>
            </a:pP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THEN use Devin Web for: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Multi-file changes (paid)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Test writing (paid)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Lint/typecheck enforcement (paid)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PR creation (paid)</a:t>
            </a:r>
            <a:endParaRPr lang="en-US" sz="1100" dirty="0"/>
          </a:p>
          <a:p>
            <a:pPr algn="l">
              <a:lnSpc>
                <a:spcPct val="140000"/>
              </a:lnSpc>
            </a:pP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When handing off to Devin, ALWAYS include: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Copilot's analysis/summary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Draft code you've written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- Design decisions made with Copilot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160000" y="1651000"/>
            <a:ext cx="5334000" cy="482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775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11023600" y="1905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RESULT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0" y="2476500"/>
            <a:ext cx="47625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entire team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follows the same hybrid pattern: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Maximizing Copilot (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Minimizing Devin ACUs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any developer starts an implementation task, Devin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auto-retrieves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Knowledge and suggests the hybrid workflow.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more guessing.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more wasted ACUs.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WORKAROUNDS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684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Web-only access has constraints — but every constraint has a workaround</a:t>
            </a:r>
            <a:endParaRPr lang="en-US" sz="1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14732000" cy="5080000"/>
        </p:xfrm>
        <a:graphic>
          <a:graphicData uri="http://schemas.openxmlformats.org/drawingml/2006/table">
            <a:tbl>
              <a:tblPr/>
              <a:tblGrid>
                <a:gridCol w="736600"/>
                <a:gridCol w="4419600"/>
                <a:gridCol w="95758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Workaround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CLI handoff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</a:t>
                      </a:r>
                      <a:pPr algn="ctr"/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"Structured Prompt Transfer"</a:t>
                      </a:r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copy Copilot analysis into Devin prompt with full context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IDE extension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</a:t>
                      </a:r>
                      <a:pPr algn="ctr"/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browser + IDE side-by-side</a:t>
                      </a:r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, or Devin web on second monitor. Copy-paste between them.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local file sync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Commit Copilot drafts to a branch</a:t>
                      </a:r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, tell Devin to work from that branch. GitHub is the bridge.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real-time sync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</a:t>
                      </a:r>
                      <a:pPr algn="ctr"/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GitHub as the bridge</a:t>
                      </a:r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commit Copilot work, Devin picks it up from the branch.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940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direct integration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Build </a:t>
                      </a:r>
                      <a:pPr algn="ctr"/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Knowledge items that document the hybrid workflow</a:t>
                      </a:r>
                      <a:pPr algn="ctr"/>
                      <a:r>
                        <a:rPr lang="en-US" sz="13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. The Knowledge Bridge pattern (Phase 5).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112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79500" y="739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8" name="Text 5"/>
          <p:cNvSpPr/>
          <p:nvPr/>
        </p:nvSpPr>
        <p:spPr>
          <a:xfrm>
            <a:off x="1498600" y="7391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9500" y="7772400"/>
            <a:ext cx="140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limitation has a workaround. The hybrid workflow isn't as seamless as CLI handoff, but it delivers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60-70% of the same ACU savings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zero additional tooling.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PERSONAL IMPROVEMENT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gradFill rotWithShape="1" flip="none">
            <a:gsLst>
              <a:gs pos="0">
                <a:srgbClr val="E74C3C"/>
              </a:gs>
              <a:gs pos="50000">
                <a:srgbClr val="F39C12"/>
              </a:gs>
              <a:gs pos="100000">
                <a:srgbClr val="2ECC71"/>
              </a:gs>
            </a:gsLst>
            <a:lin ang="0" scaled="1"/>
          </a:gra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3683000"/>
        </p:xfrm>
        <a:graphic>
          <a:graphicData uri="http://schemas.openxmlformats.org/drawingml/2006/table">
            <a:tbl>
              <a:tblPr/>
              <a:tblGrid>
                <a:gridCol w="4419600"/>
                <a:gridCol w="2357120"/>
                <a:gridCol w="2357120"/>
                <a:gridCol w="2357120"/>
                <a:gridCol w="3241040"/>
              </a:tblGrid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 1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 2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 3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Improvement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Avg ACU per session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8.5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3.1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64% ↓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Sessions per week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140% ↑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PRs merged per week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233% ↑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Build breaks by Devin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3/week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1/week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0/week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100% ↓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Time to first PR review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 days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 day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 hours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75% ↓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Monthly ACU cost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$850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$520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$310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64% ↓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Duplicate research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60%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80% ↓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Copilot + Devin hybrid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70%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270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000" y="53975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1 → MONTH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16000" y="5715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Started Work-Order Prompting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 ACU limits per session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Added acceptance criteria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78500" y="5270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2500" y="53975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2 → MONTH 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2500" y="5715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Built atomic Knowledge (15 items)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Created 4 Playbooks with macros</a:t>
            </a:r>
            <a:endParaRPr lang="en-US" sz="1200" dirty="0"/>
          </a:p>
          <a:p>
            <a:pPr algn="l">
              <a:lnSpc>
                <a:spcPct val="145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Parallel Devins + Snapshots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795000" y="5270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49000" y="546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3" name="Text 10"/>
          <p:cNvSpPr/>
          <p:nvPr/>
        </p:nvSpPr>
        <p:spPr>
          <a:xfrm>
            <a:off x="11455400" y="5461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COMPOUND EFFECT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049000" y="5867400"/>
            <a:ext cx="419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optimization builds on the previous. It's not just one thing — it's the </a:t>
            </a:r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3 output is </a:t>
            </a:r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3.3x Month 1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 </a:t>
            </a:r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36% of the cost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30-DAY TRANSFORMATION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gradFill rotWithShape="1" flip="none">
            <a:gsLst>
              <a:gs pos="0">
                <a:srgbClr val="E74C3C"/>
              </a:gs>
              <a:gs pos="33000">
                <a:srgbClr val="F39C12"/>
              </a:gs>
              <a:gs pos="66000">
                <a:srgbClr val="3498DB"/>
              </a:gs>
              <a:gs pos="100000">
                <a:srgbClr val="2ECC71"/>
              </a:gs>
            </a:gsLst>
            <a:lin ang="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3492500" cy="4318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14224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4224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49500" y="1422400"/>
            <a:ext cx="165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52500" y="1854200"/>
            <a:ext cx="3111500" cy="76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1854200"/>
            <a:ext cx="774700" cy="76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057400"/>
            <a:ext cx="31115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Audit current ACU consumption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 3-5 atomic Knowledge items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 up repo snapshots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 ACU limits: 5 bugs, 10 features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10-15% ACU reduction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8500" y="1270000"/>
            <a:ext cx="3492500" cy="4318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9000" y="14224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699000" y="14224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0" y="1422400"/>
            <a:ext cx="165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PLAYBOOKS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99000" y="1854200"/>
            <a:ext cx="3111500" cy="76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4699000" y="1854200"/>
            <a:ext cx="1549400" cy="76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4699000" y="2057400"/>
            <a:ext cx="31115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Identify 3 most common task types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 playbooks with macros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Test playbooks, measure ACUs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 Knowledge after every session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Share sessions to Slack #dev-team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25-30% ACU reduction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55000" y="1270000"/>
            <a:ext cx="3492500" cy="4318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45500" y="14224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3498DB"/>
          </a:solidFill>
          <a:ln/>
        </p:spPr>
      </p:sp>
      <p:sp>
        <p:nvSpPr>
          <p:cNvPr id="20" name="Text 18"/>
          <p:cNvSpPr/>
          <p:nvPr/>
        </p:nvSpPr>
        <p:spPr>
          <a:xfrm>
            <a:off x="8445500" y="14224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42500" y="1422400"/>
            <a:ext cx="165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PARALLELIZE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45500" y="1854200"/>
            <a:ext cx="3111500" cy="76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8445500" y="1854200"/>
            <a:ext cx="2336800" cy="76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22"/>
          <p:cNvSpPr/>
          <p:nvPr/>
        </p:nvSpPr>
        <p:spPr>
          <a:xfrm>
            <a:off x="8445500" y="2057400"/>
            <a:ext cx="31115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Multi-file task for parallel Devins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"Devin manages Devins"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Measure vs sequential approach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Try Copilot → Devin on 3 tasks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Document hybrid in Knowledge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35-40% ACU reduction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001500" y="1270000"/>
            <a:ext cx="3492500" cy="4318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192000" y="14224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12192000" y="14224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89000" y="1422400"/>
            <a:ext cx="165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2192000" y="1854200"/>
            <a:ext cx="3111500" cy="76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Shape 28"/>
          <p:cNvSpPr/>
          <p:nvPr/>
        </p:nvSpPr>
        <p:spPr>
          <a:xfrm>
            <a:off x="12192000" y="1854200"/>
            <a:ext cx="3111500" cy="762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12192000" y="2057400"/>
            <a:ext cx="31115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2-3 scheduled sessions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Slack-to-Devin pipeline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Enable Devin Review on active repos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Weekly Knowledge maintenance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☐</a:t>
            </a:r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Review: target 40-50% reduction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40-50% ACU reduction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2000" y="5905500"/>
            <a:ext cx="14732000" cy="1143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1E293B">
                  <a:alpha val="50000"/>
                </a:srgbClr>
              </a:gs>
              <a:gs pos="100000">
                <a:srgbClr val="2ECC71">
                  <a:alpha val="13000"/>
                </a:srgbClr>
              </a:gs>
            </a:gsLst>
            <a:lin ang="0" scaled="1"/>
          </a:gra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9500" y="60706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30-Day Target: 40-50% ACU reduction + 80% less duplicate research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week builds on the last. By Day 30, your team will have a compounding knowledge asset.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 ANTI-PATTERNS TO AVOID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13970000" y="44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7112000"/>
        </p:xfrm>
        <a:graphic>
          <a:graphicData uri="http://schemas.openxmlformats.org/drawingml/2006/table">
            <a:tbl>
              <a:tblPr/>
              <a:tblGrid>
                <a:gridCol w="589280"/>
                <a:gridCol w="3830320"/>
                <a:gridCol w="5156200"/>
                <a:gridCol w="515620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Anti-Pattern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Why It Burns ACUs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Fix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"Fix the bug"</a:t>
                      </a:r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(vague)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Devin explores endlessly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Work-Order Prompting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ACU limits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Runaway sessions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Set 5-10 ACU default limit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giant Knowledge doc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Loaded every session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Atomic Knowledge items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repo snapshot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 ACUs wasted on setup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Pre-build environment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Letting stuck sessions grind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5+ ACUs on impossible solutions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Stop, redirect, or restart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Skipping plan review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Wrong direction for hours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Always review the plan first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out-of-scope list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"Helpful" refactors burn ACUs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Explicitly list forbidden files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Secrets in prompts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Security risk + wasted tokens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Secrets dashboard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acceptance criteria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Devin guesses "done"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Define verifiable success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Ignoring Session Insights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Repeat same mistakes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Review after every session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11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sharing research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Teammates duplicate work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Create Knowledge every session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12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Using Devin for everything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Wasting ACUs on small tasks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Copilot for exploration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495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13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Knowledge maintenance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Knowledge base becomes stale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Weekly scheduled maintenance</a:t>
                      </a:r>
                      <a:endParaRPr lang="en-US" sz="1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4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REFERENCE CARD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4826000" cy="3048000"/>
        </p:xfrm>
        <a:graphic>
          <a:graphicData uri="http://schemas.openxmlformats.org/drawingml/2006/table">
            <a:tbl>
              <a:tblPr/>
              <a:tblGrid>
                <a:gridCol w="2413000"/>
                <a:gridCol w="2413000"/>
              </a:tblGrid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Shortcut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Cmd+K / Ctrl+K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Command palette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Cmd+Shift+F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Focus mode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!macro-name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Attach playbook instantly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/handoff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Send CLI to cloud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Cmd+Shift+D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Duplicate session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270000"/>
          <a:ext cx="4826000" cy="3048000"/>
        </p:xfrm>
        <a:graphic>
          <a:graphicData uri="http://schemas.openxmlformats.org/drawingml/2006/table">
            <a:tbl>
              <a:tblPr/>
              <a:tblGrid>
                <a:gridCol w="2171700"/>
                <a:gridCol w="2654300"/>
              </a:tblGrid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Setting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Recommendation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ACU limit/session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5-10 default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Auto-approve plans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OFF for complex tasks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Slack notifications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Default filters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Save as default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Preview Agent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 for low-risk tasks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68000" y="1270000"/>
          <a:ext cx="4826000" cy="3048000"/>
        </p:xfrm>
        <a:graphic>
          <a:graphicData uri="http://schemas.openxmlformats.org/drawingml/2006/table">
            <a:tbl>
              <a:tblPr/>
              <a:tblGrid>
                <a:gridCol w="2171700"/>
                <a:gridCol w="2654300"/>
              </a:tblGrid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File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Purpose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AGENTS.md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Project rules for CLI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.devin/config.yaml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 tools/commands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PULL_REQUEST_TEMPLATE/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 template for Devin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SECURITY.md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Security policies for Review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.rules / .mdc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Auto-imported by Devin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762000" y="4635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ACU LIMITS BY TASK TYPE</a:t>
            </a:r>
            <a:endParaRPr lang="en-US" sz="1600" dirty="0"/>
          </a:p>
        </p:txBody>
      </p:sp>
      <p:graphicFrame>
        <p:nvGraphicFramePr>
          <p:cNvPr id="1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16500"/>
          <a:ext cx="6350000" cy="1778000"/>
        </p:xfrm>
        <a:graphic>
          <a:graphicData uri="http://schemas.openxmlformats.org/drawingml/2006/table">
            <a:tbl>
              <a:tblPr/>
              <a:tblGrid>
                <a:gridCol w="2540000"/>
                <a:gridCol w="1905000"/>
                <a:gridCol w="1905000"/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Task Type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ACU Limit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Rationale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Simple bug fix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3-5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Forces focus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 implementation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8-10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Plan + exec + tests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Code migration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15-20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Complex but bounded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Research/exploration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 ACUs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1F5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Prevent endless browsing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 3"/>
          <p:cNvSpPr/>
          <p:nvPr/>
        </p:nvSpPr>
        <p:spPr>
          <a:xfrm>
            <a:off x="762000" y="7048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PLAYBOOK MACROS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762000" y="7429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!add-endpoint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Add API endpoint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!fix-bug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Bug investigation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!write-test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Test generation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!refactor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Code refactoring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8890000" y="4635500"/>
            <a:ext cx="6604000" cy="3810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92075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3234" y="60563"/>
                </a:moveTo>
                <a:cubicBezTo>
                  <a:pt x="198914" y="55493"/>
                  <a:pt x="202494" y="47645"/>
                  <a:pt x="202494" y="38894"/>
                </a:cubicBezTo>
                <a:cubicBezTo>
                  <a:pt x="202494" y="23545"/>
                  <a:pt x="191444" y="11112"/>
                  <a:pt x="177800" y="11112"/>
                </a:cubicBezTo>
                <a:cubicBezTo>
                  <a:pt x="164156" y="11112"/>
                  <a:pt x="153106" y="23545"/>
                  <a:pt x="153106" y="38894"/>
                </a:cubicBezTo>
                <a:cubicBezTo>
                  <a:pt x="153106" y="47645"/>
                  <a:pt x="156748" y="55493"/>
                  <a:pt x="162366" y="60563"/>
                </a:cubicBezTo>
                <a:lnTo>
                  <a:pt x="120138" y="135295"/>
                </a:lnTo>
                <a:cubicBezTo>
                  <a:pt x="113965" y="146199"/>
                  <a:pt x="100815" y="148908"/>
                  <a:pt x="91616" y="141129"/>
                </a:cubicBezTo>
                <a:lnTo>
                  <a:pt x="54883" y="110222"/>
                </a:lnTo>
                <a:cubicBezTo>
                  <a:pt x="57662" y="105777"/>
                  <a:pt x="59267" y="100290"/>
                  <a:pt x="59267" y="94456"/>
                </a:cubicBezTo>
                <a:cubicBezTo>
                  <a:pt x="59267" y="79107"/>
                  <a:pt x="48216" y="66675"/>
                  <a:pt x="34572" y="66675"/>
                </a:cubicBezTo>
                <a:cubicBezTo>
                  <a:pt x="20929" y="66675"/>
                  <a:pt x="9878" y="79107"/>
                  <a:pt x="9878" y="94456"/>
                </a:cubicBezTo>
                <a:cubicBezTo>
                  <a:pt x="9878" y="109597"/>
                  <a:pt x="20682" y="121960"/>
                  <a:pt x="34078" y="122238"/>
                </a:cubicBezTo>
                <a:lnTo>
                  <a:pt x="54204" y="273298"/>
                </a:lnTo>
                <a:cubicBezTo>
                  <a:pt x="57106" y="295037"/>
                  <a:pt x="73713" y="311150"/>
                  <a:pt x="93283" y="311150"/>
                </a:cubicBezTo>
                <a:lnTo>
                  <a:pt x="262317" y="311150"/>
                </a:lnTo>
                <a:cubicBezTo>
                  <a:pt x="281887" y="311150"/>
                  <a:pt x="298494" y="295037"/>
                  <a:pt x="301396" y="273298"/>
                </a:cubicBezTo>
                <a:lnTo>
                  <a:pt x="321522" y="122238"/>
                </a:lnTo>
                <a:cubicBezTo>
                  <a:pt x="334918" y="121960"/>
                  <a:pt x="345722" y="109597"/>
                  <a:pt x="345722" y="94456"/>
                </a:cubicBezTo>
                <a:cubicBezTo>
                  <a:pt x="345722" y="79107"/>
                  <a:pt x="334671" y="66675"/>
                  <a:pt x="321028" y="66675"/>
                </a:cubicBezTo>
                <a:cubicBezTo>
                  <a:pt x="307384" y="66675"/>
                  <a:pt x="296333" y="79107"/>
                  <a:pt x="296333" y="94456"/>
                </a:cubicBezTo>
                <a:cubicBezTo>
                  <a:pt x="296333" y="100290"/>
                  <a:pt x="297938" y="105777"/>
                  <a:pt x="300717" y="110222"/>
                </a:cubicBezTo>
                <a:lnTo>
                  <a:pt x="264045" y="141198"/>
                </a:lnTo>
                <a:cubicBezTo>
                  <a:pt x="254847" y="148977"/>
                  <a:pt x="241697" y="146268"/>
                  <a:pt x="235523" y="135364"/>
                </a:cubicBezTo>
                <a:lnTo>
                  <a:pt x="193234" y="60563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3" name="Text 7"/>
          <p:cNvSpPr/>
          <p:nvPr/>
        </p:nvSpPr>
        <p:spPr>
          <a:xfrm>
            <a:off x="9690100" y="488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GOLDEN RULE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207500" y="5397500"/>
            <a:ext cx="60325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i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"Devin replaces TASKS, not ROLES. The teams that win invest in setup (Knowledge, snapshots, playbooks) BEFORE burning ACUs."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Result: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40-60% ACU reduction in 30 days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80% reduction in duplicate research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2-3x team velocity improvement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spc="2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 &amp; RESOURCES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4732000" cy="50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06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OFFICIAL DEVIN DOCUMENTATION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239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Introducing Devin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When to Use Devin (Best Practices)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3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Advanced Capabilities (Managed Devins)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4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Using Playbooks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5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Devin CLI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6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Hand Off to Cloud Devins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7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Devin Review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8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Best Practices &amp; Use Cases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9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Release Notes Overview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0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Devin MCP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Session Insights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Knowledge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3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Docs — Scheduled Sessions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82000" y="1206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COMMUNITY, TOOLS &amp; COPILOT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4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Cognition Blog — Devin Case Studies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5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Community Gallery (Playbooks)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6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Handoff GitHub Plugin (Open Source)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7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Devin MCP Marketplace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8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Chat Documentation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19.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u="sng" dirty="0">
                <a:solidFill>
                  <a:srgbClr val="F1F5F9"/>
                </a:solidFill>
                <a:uFill>
                  <a:solidFill>
                    <a:srgbClr val="F1F5F9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9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Getting Started with Copilot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82000" y="43815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6000" y="45466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documentation links are current as of June 2026. Devin's feature set evolves rapidly — check the release notes for the latest capabilities.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8826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Devin AI Mastery | June 2026 | [Your Name]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gradFill rotWithShape="1" flip="none">
          <a:gsLst>
            <a:gs pos="0">
              <a:srgbClr val="0F172A"/>
            </a:gs>
            <a:gs pos="60000">
              <a:srgbClr val="0F172A"/>
            </a:gs>
            <a:gs pos="100000">
              <a:srgbClr val="1E3A5F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8000" y="1016000"/>
            <a:ext cx="7620000" cy="3175000"/>
          </a:xfrm>
          <a:prstGeom prst="ellipse">
            <a:avLst/>
          </a:prstGeom>
          <a:gradFill rotWithShape="1" flip="none">
            <a:gsLst>
              <a:gs pos="0">
                <a:srgbClr val="3498DB">
                  <a:alpha val="8000"/>
                </a:srgbClr>
              </a:gs>
              <a:gs pos="100000">
                <a:srgbClr val="3498DB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3048000" y="1270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spc="6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83000" y="234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Questions? Let's discuss.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Shape 4"/>
          <p:cNvSpPr/>
          <p:nvPr/>
        </p:nvSpPr>
        <p:spPr>
          <a:xfrm>
            <a:off x="2032000" y="3302000"/>
            <a:ext cx="12192000" cy="2286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0000" y="3492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DIRECT MESSAGES ARE OPEN FOR: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3911600"/>
            <a:ext cx="1117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Help setting up your first playbook        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Reviewing your work-order prompts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Debugging high ACU consumption             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Sharing successful patterns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Setting up the Knowledge sharing pipeline   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Configuring Copilot + Devin hybrid workflow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32000" y="5969000"/>
            <a:ext cx="12192000" cy="1524000"/>
          </a:xfrm>
          <a:prstGeom prst="roundRect">
            <a:avLst>
              <a:gd name="adj" fmla="val 6000"/>
            </a:avLst>
          </a:prstGeom>
          <a:solidFill>
            <a:srgbClr val="1E293B">
              <a:alpha val="50196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49500" y="622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28588"/>
                </a:moveTo>
                <a:cubicBezTo>
                  <a:pt x="0" y="89118"/>
                  <a:pt x="36535" y="57150"/>
                  <a:pt x="81643" y="57150"/>
                </a:cubicBezTo>
                <a:lnTo>
                  <a:pt x="87086" y="57150"/>
                </a:lnTo>
                <a:cubicBezTo>
                  <a:pt x="99128" y="57150"/>
                  <a:pt x="108857" y="65663"/>
                  <a:pt x="108857" y="76200"/>
                </a:cubicBezTo>
                <a:cubicBezTo>
                  <a:pt x="108857" y="86737"/>
                  <a:pt x="99128" y="95250"/>
                  <a:pt x="87086" y="95250"/>
                </a:cubicBezTo>
                <a:lnTo>
                  <a:pt x="81643" y="95250"/>
                </a:lnTo>
                <a:cubicBezTo>
                  <a:pt x="60620" y="95250"/>
                  <a:pt x="43543" y="110192"/>
                  <a:pt x="43543" y="128588"/>
                </a:cubicBezTo>
                <a:lnTo>
                  <a:pt x="43543" y="133350"/>
                </a:lnTo>
                <a:lnTo>
                  <a:pt x="87086" y="133350"/>
                </a:lnTo>
                <a:cubicBezTo>
                  <a:pt x="111102" y="133350"/>
                  <a:pt x="130629" y="150435"/>
                  <a:pt x="130629" y="171450"/>
                </a:cubicBezTo>
                <a:lnTo>
                  <a:pt x="130629" y="209550"/>
                </a:lnTo>
                <a:cubicBezTo>
                  <a:pt x="130629" y="230565"/>
                  <a:pt x="111102" y="247650"/>
                  <a:pt x="87086" y="247650"/>
                </a:cubicBezTo>
                <a:lnTo>
                  <a:pt x="43543" y="247650"/>
                </a:lnTo>
                <a:cubicBezTo>
                  <a:pt x="19526" y="247650"/>
                  <a:pt x="0" y="230565"/>
                  <a:pt x="0" y="209550"/>
                </a:cubicBezTo>
                <a:lnTo>
                  <a:pt x="0" y="128588"/>
                </a:lnTo>
                <a:close/>
                <a:moveTo>
                  <a:pt x="174171" y="128588"/>
                </a:moveTo>
                <a:cubicBezTo>
                  <a:pt x="174171" y="89118"/>
                  <a:pt x="210707" y="57150"/>
                  <a:pt x="255814" y="57150"/>
                </a:cubicBezTo>
                <a:lnTo>
                  <a:pt x="261257" y="57150"/>
                </a:lnTo>
                <a:cubicBezTo>
                  <a:pt x="273299" y="57150"/>
                  <a:pt x="283029" y="65663"/>
                  <a:pt x="283029" y="76200"/>
                </a:cubicBezTo>
                <a:cubicBezTo>
                  <a:pt x="283029" y="86737"/>
                  <a:pt x="273299" y="95250"/>
                  <a:pt x="261257" y="95250"/>
                </a:cubicBezTo>
                <a:lnTo>
                  <a:pt x="255814" y="95250"/>
                </a:lnTo>
                <a:cubicBezTo>
                  <a:pt x="234791" y="95250"/>
                  <a:pt x="217714" y="110192"/>
                  <a:pt x="217714" y="128588"/>
                </a:cubicBezTo>
                <a:lnTo>
                  <a:pt x="217714" y="133350"/>
                </a:lnTo>
                <a:lnTo>
                  <a:pt x="261257" y="133350"/>
                </a:lnTo>
                <a:cubicBezTo>
                  <a:pt x="285274" y="133350"/>
                  <a:pt x="304800" y="150435"/>
                  <a:pt x="304800" y="171450"/>
                </a:cubicBezTo>
                <a:lnTo>
                  <a:pt x="304800" y="209550"/>
                </a:lnTo>
                <a:cubicBezTo>
                  <a:pt x="304800" y="230565"/>
                  <a:pt x="285274" y="247650"/>
                  <a:pt x="261257" y="247650"/>
                </a:cubicBezTo>
                <a:lnTo>
                  <a:pt x="217714" y="247650"/>
                </a:lnTo>
                <a:cubicBezTo>
                  <a:pt x="193698" y="247650"/>
                  <a:pt x="174171" y="230565"/>
                  <a:pt x="174171" y="209550"/>
                </a:cubicBezTo>
                <a:lnTo>
                  <a:pt x="174171" y="128588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2794000" y="6159500"/>
            <a:ext cx="1104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i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"Devin replaces TASKS, not ROLES. The teams that win invest in setup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i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(Knowledge, snapshots, playbooks) BEFORE burning ACUs."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40000" y="781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RESULT FOR OUR TEAM: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0000" y="8153400"/>
            <a:ext cx="1143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40-60% ACU reduction in 30 days 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80% reduction in duplicate research  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2-3x team velocity improvement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83000" y="8509000"/>
            <a:ext cx="889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[Your Name] | [your.email@company.com] | Slack: @[your-handle]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Devin AI Mastery: From ACU Burner to Power User</dc:title>
  <dc:subject>Devin AI Mastery: From ACU Burner to Power User</dc:subject>
  <dc:creator>Kimi</dc:creator>
  <cp:lastModifiedBy>Kimi</cp:lastModifiedBy>
  <cp:revision>1</cp:revision>
  <dcterms:created xsi:type="dcterms:W3CDTF">2026-07-01T01:17:51Z</dcterms:created>
  <dcterms:modified xsi:type="dcterms:W3CDTF">2026-07-01T01:17:51Z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{"Label":"Devin AI Mastery: From ACU Burner to Power User","ContentProducer":"001191110108MACG2KBH8F10000","ProduceID":"19f1ae72-90c2-8357-8000-000066585230","ReservedCode1":"","ContentPropagator":"001191110108MACG2KBH8F20000","PropagateID":"19f1ae4b-65b2-8c34-8000-091f6f8c7ff9","ReservedCode2":""}</vt:lpwstr>
  </property>
</Properties>
</file>